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</p:sldIdLst>
  <p:sldSz cx="18288000" cy="10287000"/>
  <p:notesSz cx="6858000" cy="9144000"/>
  <p:embeddedFontLst>
    <p:embeddedFont>
      <p:font typeface="Cambria Math" panose="02040503050406030204" pitchFamily="18" charset="0"/>
      <p:regular r:id="rId12"/>
    </p:embeddedFont>
    <p:embeddedFont>
      <p:font typeface="Inter Light"/>
      <p:regular r:id="rId13"/>
    </p:embeddedFont>
    <p:embeddedFont>
      <p:font typeface="Montserrat Medium" pitchFamily="2" charset="0"/>
      <p:regular r:id="rId14"/>
      <p:italic r:id="rId15"/>
    </p:embeddedFont>
    <p:embeddedFont>
      <p:font typeface="Newsreader 36pt Italics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9A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430875" cy="10287000"/>
          </a:xfrm>
          <a:custGeom>
            <a:avLst/>
            <a:gdLst/>
            <a:ahLst/>
            <a:cxnLst/>
            <a:rect l="l" t="t" r="r" b="b"/>
            <a:pathLst>
              <a:path w="18430875" h="10287000">
                <a:moveTo>
                  <a:pt x="0" y="0"/>
                </a:moveTo>
                <a:lnTo>
                  <a:pt x="18430875" y="0"/>
                </a:lnTo>
                <a:lnTo>
                  <a:pt x="184308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2400" dirty="0"/>
          </a:p>
        </p:txBody>
      </p:sp>
      <p:sp>
        <p:nvSpPr>
          <p:cNvPr id="4" name="TextBox 4"/>
          <p:cNvSpPr txBox="1"/>
          <p:nvPr/>
        </p:nvSpPr>
        <p:spPr>
          <a:xfrm>
            <a:off x="6631383" y="2953571"/>
            <a:ext cx="5168107" cy="746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92"/>
              </a:lnSpc>
            </a:pPr>
            <a:r>
              <a:rPr lang="en-US" sz="6600" dirty="0" err="1">
                <a:solidFill>
                  <a:srgbClr val="319AD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WindGuard</a:t>
            </a:r>
            <a:r>
              <a:rPr lang="en-US" sz="6600" dirty="0">
                <a:solidFill>
                  <a:srgbClr val="319AD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57436" y="3700186"/>
            <a:ext cx="13573125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>
                <a:latin typeface="Newsreader 36pt Italics" panose="020B0604020202020204" charset="0"/>
              </a:rPr>
              <a:t> Explainable Wind Turbine Predictive Health &amp; Decision-Support System</a:t>
            </a:r>
            <a:endParaRPr lang="en-US" sz="4000" i="1" dirty="0">
              <a:solidFill>
                <a:srgbClr val="334155"/>
              </a:solidFill>
              <a:latin typeface="Newsreader 36pt Italics" panose="020B0604020202020204" charset="0"/>
              <a:ea typeface="Newsreader 36pt Italics"/>
              <a:cs typeface="Newsreader 36pt Italics"/>
              <a:sym typeface="Newsreader 36pt Itali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198128" y="7135134"/>
            <a:ext cx="9891742" cy="101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83"/>
              </a:lnSpc>
            </a:pPr>
            <a:r>
              <a:rPr lang="en-US" sz="32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Shrivarad Govind </a:t>
            </a:r>
            <a:r>
              <a:rPr lang="en-US" sz="3200" dirty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Bhagwatikar</a:t>
            </a:r>
          </a:p>
          <a:p>
            <a:pPr algn="ctr">
              <a:lnSpc>
                <a:spcPts val="2583"/>
              </a:lnSpc>
            </a:pPr>
            <a:endParaRPr lang="en-US" sz="3200" dirty="0">
              <a:solidFill>
                <a:srgbClr val="47556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2583"/>
              </a:lnSpc>
            </a:pPr>
            <a:r>
              <a:rPr lang="en-US" sz="3200" dirty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Technology, Savitribai Phule Pune University</a:t>
            </a: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B766DFF0-4A3C-7ACF-149A-2B29F4106C7D}"/>
              </a:ext>
            </a:extLst>
          </p:cNvPr>
          <p:cNvSpPr txBox="1"/>
          <p:nvPr/>
        </p:nvSpPr>
        <p:spPr>
          <a:xfrm>
            <a:off x="2357435" y="4305300"/>
            <a:ext cx="13573125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>
                <a:solidFill>
                  <a:srgbClr val="319AD1"/>
                </a:solidFill>
                <a:latin typeface="Newsreader 36pt Italics" panose="020B0604020202020204" charset="0"/>
              </a:rPr>
              <a:t>Physics-Informed Anomaly Detection, Multi-Signal Contextual Attribution &amp; Financial Revenue Assurance</a:t>
            </a:r>
            <a:endParaRPr lang="en-US" sz="4800" dirty="0">
              <a:solidFill>
                <a:srgbClr val="319AD1"/>
              </a:solidFill>
              <a:latin typeface="Newsreader 36pt Italics" panose="020B0604020202020204" charset="0"/>
              <a:ea typeface="Newsreader 36pt Italics"/>
              <a:cs typeface="Newsreader 36pt Italics"/>
              <a:sym typeface="Newsreader 36pt Itali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0" r="-39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57199" y="1206931"/>
            <a:ext cx="8077201" cy="8848571"/>
            <a:chOff x="0" y="0"/>
            <a:chExt cx="10915650" cy="5873052"/>
          </a:xfrm>
        </p:grpSpPr>
        <p:sp>
          <p:nvSpPr>
            <p:cNvPr id="4" name="Freeform 4" descr="image.png"/>
            <p:cNvSpPr/>
            <p:nvPr/>
          </p:nvSpPr>
          <p:spPr>
            <a:xfrm>
              <a:off x="0" y="0"/>
              <a:ext cx="10915650" cy="5873115"/>
            </a:xfrm>
            <a:custGeom>
              <a:avLst/>
              <a:gdLst/>
              <a:ahLst/>
              <a:cxnLst/>
              <a:rect l="l" t="t" r="r" b="b"/>
              <a:pathLst>
                <a:path w="10915650" h="5873115">
                  <a:moveTo>
                    <a:pt x="203200" y="0"/>
                  </a:moveTo>
                  <a:lnTo>
                    <a:pt x="10712450" y="0"/>
                  </a:lnTo>
                  <a:cubicBezTo>
                    <a:pt x="10824674" y="0"/>
                    <a:pt x="10915650" y="90976"/>
                    <a:pt x="10915650" y="203200"/>
                  </a:cubicBezTo>
                  <a:lnTo>
                    <a:pt x="10915650" y="5669915"/>
                  </a:lnTo>
                  <a:cubicBezTo>
                    <a:pt x="10915650" y="5723807"/>
                    <a:pt x="10894241" y="5775492"/>
                    <a:pt x="10856134" y="5813599"/>
                  </a:cubicBezTo>
                  <a:cubicBezTo>
                    <a:pt x="10818027" y="5851707"/>
                    <a:pt x="10766342" y="5873115"/>
                    <a:pt x="10712450" y="5873115"/>
                  </a:cubicBezTo>
                  <a:lnTo>
                    <a:pt x="203200" y="5873115"/>
                  </a:lnTo>
                  <a:cubicBezTo>
                    <a:pt x="90976" y="5873115"/>
                    <a:pt x="0" y="5782139"/>
                    <a:pt x="0" y="5669915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blipFill>
              <a:blip r:embed="rId3"/>
              <a:stretch>
                <a:fillRect t="-188" b="-187"/>
              </a:stretch>
            </a:blipFill>
            <a:ln w="38100" cap="sq">
              <a:solidFill>
                <a:srgbClr val="D6E0EA"/>
              </a:solidFill>
              <a:prstDash val="solid"/>
              <a:miter/>
            </a:ln>
          </p:spPr>
        </p:sp>
      </p:grpSp>
      <p:sp>
        <p:nvSpPr>
          <p:cNvPr id="25" name="AutoShape 25"/>
          <p:cNvSpPr/>
          <p:nvPr/>
        </p:nvSpPr>
        <p:spPr>
          <a:xfrm>
            <a:off x="742949" y="952500"/>
            <a:ext cx="16473488" cy="0"/>
          </a:xfrm>
          <a:prstGeom prst="line">
            <a:avLst/>
          </a:prstGeom>
          <a:ln w="38100" cap="flat">
            <a:solidFill>
              <a:srgbClr val="D6E0EA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742949" y="303439"/>
            <a:ext cx="12168188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000" dirty="0">
                <a:solidFill>
                  <a:srgbClr val="319A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Operational &amp; Financial Crisis in Wind Energy O&amp;M</a:t>
            </a:r>
            <a:endParaRPr lang="en-IN" sz="6600" dirty="0">
              <a:solidFill>
                <a:srgbClr val="319AD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4"/>
              <p:cNvSpPr txBox="1"/>
              <p:nvPr/>
            </p:nvSpPr>
            <p:spPr>
              <a:xfrm>
                <a:off x="550762" y="1406782"/>
                <a:ext cx="7734865" cy="904863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lvl="0" algn="just"/>
                <a:r>
                  <a:rPr lang="en-I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 Sustainable Development Goal 7 Alignment:</a:t>
                </a:r>
                <a:endPara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en-I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SDG 7 relevance:</a:t>
                </a:r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WindGuard</a:t>
                </a:r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AI supports the reliability and operational efficiency of renewable-energy assets through explainable monitoring and decision support</a:t>
                </a:r>
                <a:r>
                  <a:rPr lang="en-IN" sz="2800" dirty="0"/>
                  <a:t>.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endPara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/>
                <a:r>
                  <a:rPr lang="en-I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Transforming Engineering Telemetry into Financial Intelligence:</a:t>
                </a:r>
                <a:endPara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Links physical degradation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/>
                      <m:t>Δ</m:t>
                    </m:r>
                    <m:r>
                      <a:rPr lang="en-IN" sz="2800" i="1"/>
                      <m:t>𝑃</m:t>
                    </m:r>
                    <m:r>
                      <a:rPr lang="en-IN" sz="2800"/>
                      <m:t>,</m:t>
                    </m:r>
                    <m:r>
                      <m:rPr>
                        <m:sty m:val="p"/>
                      </m:rPr>
                      <a:rPr lang="en-IN" sz="2800"/>
                      <m:t>Δ</m:t>
                    </m:r>
                    <m:r>
                      <a:rPr lang="en-IN" sz="2800" i="1"/>
                      <m:t>𝑇</m:t>
                    </m:r>
                  </m:oMath>
                </a14:m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directly to local tariff structures:</a:t>
                </a:r>
              </a:p>
              <a:p>
                <a:pPr marL="1257300" lvl="2" indent="-342900" algn="just">
                  <a:buFont typeface="Arial" panose="020B0604020202020204" pitchFamily="34" charset="0"/>
                  <a:buChar char="•"/>
                </a:pPr>
                <a:r>
                  <a:rPr lang="en-I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PPA Flat Tariffs</a:t>
                </a:r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(e.g., ₹3.20/kWh fixed)</a:t>
                </a:r>
              </a:p>
              <a:p>
                <a:pPr marL="1257300" lvl="2" indent="-342900" algn="just">
                  <a:buFont typeface="Arial" panose="020B0604020202020204" pitchFamily="34" charset="0"/>
                  <a:buChar char="•"/>
                </a:pPr>
                <a:r>
                  <a:rPr lang="en-I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Time-of-Day (</a:t>
                </a:r>
                <a:r>
                  <a:rPr lang="en-IN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ToD</a:t>
                </a:r>
                <a:r>
                  <a:rPr lang="en-I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peak/off-peak multipliers</a:t>
                </a:r>
              </a:p>
              <a:p>
                <a:pPr marL="1257300" lvl="2" indent="-342900" algn="just">
                  <a:buFont typeface="Arial" panose="020B0604020202020204" pitchFamily="34" charset="0"/>
                  <a:buChar char="•"/>
                </a:pPr>
                <a:r>
                  <a:rPr lang="en-I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Feed-in Tariffs (</a:t>
                </a:r>
                <a:r>
                  <a:rPr lang="en-IN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FiT</a:t>
                </a:r>
                <a:r>
                  <a:rPr lang="en-I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&amp; </a:t>
                </a:r>
                <a:r>
                  <a:rPr lang="en-I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APPC</a:t>
                </a:r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(Average Power Purchase Cost)</a:t>
                </a:r>
              </a:p>
              <a:p>
                <a:pPr marL="1257300" lvl="2" indent="-342900" algn="just">
                  <a:buFont typeface="Arial" panose="020B0604020202020204" pitchFamily="34" charset="0"/>
                  <a:buChar char="•"/>
                </a:pPr>
                <a:endPara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/>
                <a:r>
                  <a:rPr lang="en-I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National Grid Predictability:</a:t>
                </a:r>
                <a:endPara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Enhances grid stability by reducing sudden, unexpected trips in large wind corridors (e.g., Tamil Nadu, Gujarat).</a:t>
                </a:r>
              </a:p>
              <a:p>
                <a:pPr marL="457200" lvl="0" indent="-457200" algn="just">
                  <a:buFont typeface="Arial" panose="020B0604020202020204" pitchFamily="34" charset="0"/>
                  <a:buChar char="•"/>
                </a:pPr>
                <a:endPara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4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762" y="1406782"/>
                <a:ext cx="7734865" cy="9048631"/>
              </a:xfrm>
              <a:prstGeom prst="rect">
                <a:avLst/>
              </a:prstGeom>
              <a:blipFill>
                <a:blip r:embed="rId4"/>
                <a:stretch>
                  <a:fillRect l="-2758" t="-1213" r="-28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2C36F2F4-F21F-602E-C3A9-AE438D26868E}"/>
              </a:ext>
            </a:extLst>
          </p:cNvPr>
          <p:cNvGrpSpPr/>
          <p:nvPr/>
        </p:nvGrpSpPr>
        <p:grpSpPr>
          <a:xfrm>
            <a:off x="8647731" y="3803935"/>
            <a:ext cx="9526937" cy="4060106"/>
            <a:chOff x="5548174" y="3004046"/>
            <a:chExt cx="5667134" cy="2447925"/>
          </a:xfrm>
        </p:grpSpPr>
        <p:pic>
          <p:nvPicPr>
            <p:cNvPr id="65" name="Image 1" descr="preencoded.png">
              <a:extLst>
                <a:ext uri="{FF2B5EF4-FFF2-40B4-BE49-F238E27FC236}">
                  <a16:creationId xmlns:a16="http://schemas.microsoft.com/office/drawing/2014/main" id="{3DF87A5B-53AA-0718-BE00-CB13A4061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48174" y="3004046"/>
              <a:ext cx="5667134" cy="2447925"/>
            </a:xfrm>
            <a:prstGeom prst="rect">
              <a:avLst/>
            </a:prstGeom>
          </p:spPr>
        </p:pic>
        <p:sp>
          <p:nvSpPr>
            <p:cNvPr id="66" name="Text 4">
              <a:extLst>
                <a:ext uri="{FF2B5EF4-FFF2-40B4-BE49-F238E27FC236}">
                  <a16:creationId xmlns:a16="http://schemas.microsoft.com/office/drawing/2014/main" id="{075460FE-2401-822F-8F16-32B42893B38F}"/>
                </a:ext>
              </a:extLst>
            </p:cNvPr>
            <p:cNvSpPr/>
            <p:nvPr/>
          </p:nvSpPr>
          <p:spPr>
            <a:xfrm>
              <a:off x="6900512" y="4800357"/>
              <a:ext cx="841460" cy="1532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dirty="0">
                  <a:solidFill>
                    <a:srgbClr val="3D3E44"/>
                  </a:solidFill>
                  <a:latin typeface="Montserrat Medium" pitchFamily="34" charset="0"/>
                  <a:ea typeface="Montserrat Medium" pitchFamily="34" charset="-122"/>
                  <a:cs typeface="Montserrat Medium" pitchFamily="34" charset="-120"/>
                </a:rPr>
                <a:t>Anomaly</a:t>
              </a:r>
              <a:endParaRPr lang="en-US" dirty="0"/>
            </a:p>
          </p:txBody>
        </p:sp>
        <p:sp>
          <p:nvSpPr>
            <p:cNvPr id="67" name="Text 5">
              <a:extLst>
                <a:ext uri="{FF2B5EF4-FFF2-40B4-BE49-F238E27FC236}">
                  <a16:creationId xmlns:a16="http://schemas.microsoft.com/office/drawing/2014/main" id="{63CD6B5C-72FD-B5F1-494B-33F8AFA4BB50}"/>
                </a:ext>
              </a:extLst>
            </p:cNvPr>
            <p:cNvSpPr/>
            <p:nvPr/>
          </p:nvSpPr>
          <p:spPr>
            <a:xfrm>
              <a:off x="6900512" y="4997210"/>
              <a:ext cx="841460" cy="232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ctr">
                <a:lnSpc>
                  <a:spcPct val="99000"/>
                </a:lnSpc>
                <a:buNone/>
              </a:pPr>
              <a:r>
                <a:rPr lang="en-US" sz="1400" dirty="0">
                  <a:solidFill>
                    <a:srgbClr val="3D3E44"/>
                  </a:solidFill>
                  <a:latin typeface="Inter Light" pitchFamily="34" charset="0"/>
                  <a:ea typeface="Inter Light" pitchFamily="34" charset="-122"/>
                  <a:cs typeface="Inter Light" pitchFamily="34" charset="-120"/>
                </a:rPr>
                <a:t>Threshold breach detected</a:t>
              </a:r>
              <a:endParaRPr lang="en-US" sz="1400" dirty="0"/>
            </a:p>
          </p:txBody>
        </p:sp>
        <p:sp>
          <p:nvSpPr>
            <p:cNvPr id="68" name="Text 6">
              <a:extLst>
                <a:ext uri="{FF2B5EF4-FFF2-40B4-BE49-F238E27FC236}">
                  <a16:creationId xmlns:a16="http://schemas.microsoft.com/office/drawing/2014/main" id="{7E12BD56-AFB5-7D3D-B741-C764C1943386}"/>
                </a:ext>
              </a:extLst>
            </p:cNvPr>
            <p:cNvSpPr/>
            <p:nvPr/>
          </p:nvSpPr>
          <p:spPr>
            <a:xfrm>
              <a:off x="9061164" y="4683879"/>
              <a:ext cx="841461" cy="1532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dirty="0">
                  <a:solidFill>
                    <a:srgbClr val="74767D"/>
                  </a:solidFill>
                  <a:latin typeface="Montserrat Medium" pitchFamily="34" charset="0"/>
                  <a:ea typeface="Montserrat Medium" pitchFamily="34" charset="-122"/>
                  <a:cs typeface="Montserrat Medium" pitchFamily="34" charset="-120"/>
                </a:rPr>
                <a:t>Diagnosis</a:t>
              </a:r>
              <a:endParaRPr lang="en-US" dirty="0"/>
            </a:p>
          </p:txBody>
        </p:sp>
        <p:sp>
          <p:nvSpPr>
            <p:cNvPr id="69" name="Text 7">
              <a:extLst>
                <a:ext uri="{FF2B5EF4-FFF2-40B4-BE49-F238E27FC236}">
                  <a16:creationId xmlns:a16="http://schemas.microsoft.com/office/drawing/2014/main" id="{C6952EB0-DD9A-D7A1-62BB-DEC868E47744}"/>
                </a:ext>
              </a:extLst>
            </p:cNvPr>
            <p:cNvSpPr/>
            <p:nvPr/>
          </p:nvSpPr>
          <p:spPr>
            <a:xfrm>
              <a:off x="9061164" y="4880733"/>
              <a:ext cx="841461" cy="3494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ctr">
                <a:lnSpc>
                  <a:spcPct val="99000"/>
                </a:lnSpc>
                <a:buNone/>
              </a:pPr>
              <a:r>
                <a:rPr lang="en-US" sz="1400" dirty="0">
                  <a:solidFill>
                    <a:srgbClr val="3D3E44"/>
                  </a:solidFill>
                  <a:latin typeface="Inter Light" pitchFamily="34" charset="0"/>
                  <a:ea typeface="Inter Light" pitchFamily="34" charset="-122"/>
                  <a:cs typeface="Inter Light" pitchFamily="34" charset="-120"/>
                </a:rPr>
                <a:t>Attributed with supporting evidence</a:t>
              </a:r>
              <a:endParaRPr lang="en-US" sz="1400" dirty="0"/>
            </a:p>
          </p:txBody>
        </p:sp>
        <p:sp>
          <p:nvSpPr>
            <p:cNvPr id="70" name="Text 8">
              <a:extLst>
                <a:ext uri="{FF2B5EF4-FFF2-40B4-BE49-F238E27FC236}">
                  <a16:creationId xmlns:a16="http://schemas.microsoft.com/office/drawing/2014/main" id="{715C7AD9-3C95-6816-DCAE-EF2EBB2F9390}"/>
                </a:ext>
              </a:extLst>
            </p:cNvPr>
            <p:cNvSpPr/>
            <p:nvPr/>
          </p:nvSpPr>
          <p:spPr>
            <a:xfrm>
              <a:off x="5822867" y="3224931"/>
              <a:ext cx="841461" cy="1532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dirty="0">
                  <a:solidFill>
                    <a:srgbClr val="3D3E44"/>
                  </a:solidFill>
                  <a:latin typeface="Montserrat Medium" pitchFamily="34" charset="0"/>
                  <a:ea typeface="Montserrat Medium" pitchFamily="34" charset="-122"/>
                  <a:cs typeface="Montserrat Medium" pitchFamily="34" charset="-120"/>
                </a:rPr>
                <a:t>Raw SCADA</a:t>
              </a:r>
              <a:endParaRPr lang="en-US" dirty="0"/>
            </a:p>
          </p:txBody>
        </p:sp>
        <p:sp>
          <p:nvSpPr>
            <p:cNvPr id="71" name="Text 9">
              <a:extLst>
                <a:ext uri="{FF2B5EF4-FFF2-40B4-BE49-F238E27FC236}">
                  <a16:creationId xmlns:a16="http://schemas.microsoft.com/office/drawing/2014/main" id="{E180D498-8E0C-6EB2-871F-902CED96A40A}"/>
                </a:ext>
              </a:extLst>
            </p:cNvPr>
            <p:cNvSpPr/>
            <p:nvPr/>
          </p:nvSpPr>
          <p:spPr>
            <a:xfrm>
              <a:off x="5822867" y="3421785"/>
              <a:ext cx="841461" cy="232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ctr">
                <a:lnSpc>
                  <a:spcPct val="99000"/>
                </a:lnSpc>
                <a:buNone/>
              </a:pPr>
              <a:r>
                <a:rPr lang="en-US" sz="1400" dirty="0">
                  <a:solidFill>
                    <a:srgbClr val="3D3E44"/>
                  </a:solidFill>
                  <a:latin typeface="Inter Light" pitchFamily="34" charset="0"/>
                  <a:ea typeface="Inter Light" pitchFamily="34" charset="-122"/>
                  <a:cs typeface="Inter Light" pitchFamily="34" charset="-120"/>
                </a:rPr>
                <a:t>Sensor signals and alarms</a:t>
              </a:r>
              <a:endParaRPr lang="en-US" sz="1400" dirty="0"/>
            </a:p>
          </p:txBody>
        </p:sp>
        <p:sp>
          <p:nvSpPr>
            <p:cNvPr id="72" name="Text 10">
              <a:extLst>
                <a:ext uri="{FF2B5EF4-FFF2-40B4-BE49-F238E27FC236}">
                  <a16:creationId xmlns:a16="http://schemas.microsoft.com/office/drawing/2014/main" id="{F9A35E73-00B1-24C4-13AD-0EC8BAB06924}"/>
                </a:ext>
              </a:extLst>
            </p:cNvPr>
            <p:cNvSpPr/>
            <p:nvPr/>
          </p:nvSpPr>
          <p:spPr>
            <a:xfrm>
              <a:off x="10106711" y="3224931"/>
              <a:ext cx="841460" cy="1532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dirty="0">
                  <a:solidFill>
                    <a:srgbClr val="3D3E44"/>
                  </a:solidFill>
                  <a:latin typeface="Montserrat Medium" pitchFamily="34" charset="0"/>
                  <a:ea typeface="Montserrat Medium" pitchFamily="34" charset="-122"/>
                  <a:cs typeface="Montserrat Medium" pitchFamily="34" charset="-120"/>
                </a:rPr>
                <a:t>Maintenance</a:t>
              </a:r>
              <a:endParaRPr lang="en-US" dirty="0"/>
            </a:p>
          </p:txBody>
        </p:sp>
        <p:sp>
          <p:nvSpPr>
            <p:cNvPr id="73" name="Text 11">
              <a:extLst>
                <a:ext uri="{FF2B5EF4-FFF2-40B4-BE49-F238E27FC236}">
                  <a16:creationId xmlns:a16="http://schemas.microsoft.com/office/drawing/2014/main" id="{9CEE4231-8FF1-CF09-72E6-3D44B9E8E563}"/>
                </a:ext>
              </a:extLst>
            </p:cNvPr>
            <p:cNvSpPr/>
            <p:nvPr/>
          </p:nvSpPr>
          <p:spPr>
            <a:xfrm>
              <a:off x="10106711" y="3421785"/>
              <a:ext cx="841460" cy="232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ctr">
                <a:lnSpc>
                  <a:spcPct val="99000"/>
                </a:lnSpc>
                <a:buNone/>
              </a:pPr>
              <a:r>
                <a:rPr lang="en-US" sz="1400" dirty="0">
                  <a:solidFill>
                    <a:srgbClr val="3D3E44"/>
                  </a:solidFill>
                  <a:latin typeface="Inter Light" pitchFamily="34" charset="0"/>
                  <a:ea typeface="Inter Light" pitchFamily="34" charset="-122"/>
                  <a:cs typeface="Inter Light" pitchFamily="34" charset="-120"/>
                </a:rPr>
                <a:t>Human-reviewed action decision</a:t>
              </a:r>
              <a:endParaRPr lang="en-US" sz="1400" dirty="0"/>
            </a:p>
          </p:txBody>
        </p:sp>
        <p:sp>
          <p:nvSpPr>
            <p:cNvPr id="74" name="Text 12">
              <a:extLst>
                <a:ext uri="{FF2B5EF4-FFF2-40B4-BE49-F238E27FC236}">
                  <a16:creationId xmlns:a16="http://schemas.microsoft.com/office/drawing/2014/main" id="{A1986C8E-7CA0-7082-6646-2A63E11177D0}"/>
                </a:ext>
              </a:extLst>
            </p:cNvPr>
            <p:cNvSpPr/>
            <p:nvPr/>
          </p:nvSpPr>
          <p:spPr>
            <a:xfrm>
              <a:off x="7994248" y="3224931"/>
              <a:ext cx="841460" cy="1532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dirty="0">
                  <a:solidFill>
                    <a:srgbClr val="74767D"/>
                  </a:solidFill>
                  <a:latin typeface="Montserrat Medium" pitchFamily="34" charset="0"/>
                  <a:ea typeface="Montserrat Medium" pitchFamily="34" charset="-122"/>
                  <a:cs typeface="Montserrat Medium" pitchFamily="34" charset="-120"/>
                </a:rPr>
                <a:t>Context</a:t>
              </a:r>
              <a:endParaRPr lang="en-US" dirty="0"/>
            </a:p>
          </p:txBody>
        </p:sp>
        <p:sp>
          <p:nvSpPr>
            <p:cNvPr id="75" name="Text 13">
              <a:extLst>
                <a:ext uri="{FF2B5EF4-FFF2-40B4-BE49-F238E27FC236}">
                  <a16:creationId xmlns:a16="http://schemas.microsoft.com/office/drawing/2014/main" id="{7C3EC295-4A0F-B7BC-8269-F5EF1903B090}"/>
                </a:ext>
              </a:extLst>
            </p:cNvPr>
            <p:cNvSpPr/>
            <p:nvPr/>
          </p:nvSpPr>
          <p:spPr>
            <a:xfrm>
              <a:off x="7994248" y="3421785"/>
              <a:ext cx="841460" cy="3494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ctr">
                <a:lnSpc>
                  <a:spcPct val="99000"/>
                </a:lnSpc>
                <a:buNone/>
              </a:pPr>
              <a:r>
                <a:rPr lang="en-US" sz="1400" dirty="0">
                  <a:solidFill>
                    <a:srgbClr val="3D3E44"/>
                  </a:solidFill>
                  <a:latin typeface="Inter Light" pitchFamily="34" charset="0"/>
                  <a:ea typeface="Inter Light" pitchFamily="34" charset="-122"/>
                  <a:cs typeface="Inter Light" pitchFamily="34" charset="-120"/>
                </a:rPr>
                <a:t>Curtailment, weather, sensor quality</a:t>
              </a:r>
              <a:endParaRPr lang="en-US" sz="1400" dirty="0"/>
            </a:p>
          </p:txBody>
        </p:sp>
      </p:grpSp>
      <p:sp>
        <p:nvSpPr>
          <p:cNvPr id="77" name="Text 3">
            <a:extLst>
              <a:ext uri="{FF2B5EF4-FFF2-40B4-BE49-F238E27FC236}">
                <a16:creationId xmlns:a16="http://schemas.microsoft.com/office/drawing/2014/main" id="{357FD3D0-04CE-0CD0-0712-4F5755484367}"/>
              </a:ext>
            </a:extLst>
          </p:cNvPr>
          <p:cNvSpPr/>
          <p:nvPr/>
        </p:nvSpPr>
        <p:spPr>
          <a:xfrm>
            <a:off x="8734707" y="1274953"/>
            <a:ext cx="9194692" cy="248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just">
              <a:lnSpc>
                <a:spcPct val="127000"/>
              </a:lnSpc>
              <a:buNone/>
            </a:pPr>
            <a:r>
              <a:rPr lang="en-US" sz="2800" dirty="0">
                <a:solidFill>
                  <a:srgbClr val="3D3E44"/>
                </a:solidFill>
                <a:latin typeface="Times New Roman" panose="02020603050405020304" pitchFamily="18" charset="0"/>
                <a:ea typeface="Inter Light" pitchFamily="34" charset="-122"/>
                <a:cs typeface="Times New Roman" panose="02020603050405020304" pitchFamily="18" charset="0"/>
              </a:rPr>
              <a:t>SCADA anomalies do not automatically indicate failure. Curtailment mimics underperformance; heatwaves distort thermal readings; sensor faults create misleading signals. Operators need </a:t>
            </a:r>
            <a:r>
              <a:rPr lang="en-US" sz="2800" b="1" dirty="0">
                <a:solidFill>
                  <a:srgbClr val="3D3E44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interpretable evidence</a:t>
            </a:r>
            <a:r>
              <a:rPr lang="en-US" sz="2800" dirty="0">
                <a:solidFill>
                  <a:srgbClr val="3D3E44"/>
                </a:solidFill>
                <a:latin typeface="Times New Roman" panose="02020603050405020304" pitchFamily="18" charset="0"/>
                <a:ea typeface="Inter Light" pitchFamily="34" charset="-122"/>
                <a:cs typeface="Times New Roman" panose="02020603050405020304" pitchFamily="18" charset="0"/>
              </a:rPr>
              <a:t> — not raw alarms — before committing to maintenance action.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 14">
            <a:extLst>
              <a:ext uri="{FF2B5EF4-FFF2-40B4-BE49-F238E27FC236}">
                <a16:creationId xmlns:a16="http://schemas.microsoft.com/office/drawing/2014/main" id="{1F676089-31B0-1109-0051-48C7B4B10931}"/>
              </a:ext>
            </a:extLst>
          </p:cNvPr>
          <p:cNvSpPr/>
          <p:nvPr/>
        </p:nvSpPr>
        <p:spPr>
          <a:xfrm>
            <a:off x="8764936" y="8055703"/>
            <a:ext cx="9164463" cy="1449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27000"/>
              </a:lnSpc>
              <a:buNone/>
            </a:pPr>
            <a:r>
              <a:rPr lang="en-US" sz="2800" dirty="0">
                <a:solidFill>
                  <a:srgbClr val="3D3E44"/>
                </a:solidFill>
                <a:latin typeface="Times New Roman" panose="02020603050405020304" pitchFamily="18" charset="0"/>
                <a:ea typeface="Inter Light" pitchFamily="34" charset="-122"/>
                <a:cs typeface="Times New Roman" panose="02020603050405020304" pitchFamily="18" charset="0"/>
              </a:rPr>
              <a:t>The system bridges the gap between </a:t>
            </a:r>
            <a:r>
              <a:rPr lang="en-US" sz="2800" b="1" dirty="0">
                <a:solidFill>
                  <a:srgbClr val="3D3E44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"Anomaly detected"</a:t>
            </a:r>
            <a:r>
              <a:rPr lang="en-US" sz="2800" dirty="0">
                <a:solidFill>
                  <a:srgbClr val="3D3E44"/>
                </a:solidFill>
                <a:latin typeface="Times New Roman" panose="02020603050405020304" pitchFamily="18" charset="0"/>
                <a:ea typeface="Inter Light" pitchFamily="34" charset="-122"/>
                <a:cs typeface="Times New Roman" panose="02020603050405020304" pitchFamily="18" charset="0"/>
              </a:rPr>
              <a:t> and </a:t>
            </a:r>
            <a:r>
              <a:rPr lang="en-US" sz="2800" b="1" dirty="0">
                <a:solidFill>
                  <a:srgbClr val="3D3E44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"Actionable engineering diagnosis."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F9456-C7F3-E377-7265-D7002B99F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0778D21-0C8F-6DFF-9FB6-472EAD8E60E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0" r="-390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06C5C7C-61A7-96DD-AC05-38E66517620A}"/>
              </a:ext>
            </a:extLst>
          </p:cNvPr>
          <p:cNvGrpSpPr/>
          <p:nvPr/>
        </p:nvGrpSpPr>
        <p:grpSpPr>
          <a:xfrm>
            <a:off x="457199" y="1206931"/>
            <a:ext cx="10878779" cy="8810137"/>
            <a:chOff x="0" y="0"/>
            <a:chExt cx="10915650" cy="5873052"/>
          </a:xfrm>
        </p:grpSpPr>
        <p:sp>
          <p:nvSpPr>
            <p:cNvPr id="4" name="Freeform 4" descr="image.png">
              <a:extLst>
                <a:ext uri="{FF2B5EF4-FFF2-40B4-BE49-F238E27FC236}">
                  <a16:creationId xmlns:a16="http://schemas.microsoft.com/office/drawing/2014/main" id="{FF24DBF2-FDC5-2BCA-D99F-1B03F3D9F843}"/>
                </a:ext>
              </a:extLst>
            </p:cNvPr>
            <p:cNvSpPr/>
            <p:nvPr/>
          </p:nvSpPr>
          <p:spPr>
            <a:xfrm>
              <a:off x="0" y="0"/>
              <a:ext cx="10915650" cy="5873115"/>
            </a:xfrm>
            <a:custGeom>
              <a:avLst/>
              <a:gdLst/>
              <a:ahLst/>
              <a:cxnLst/>
              <a:rect l="l" t="t" r="r" b="b"/>
              <a:pathLst>
                <a:path w="10915650" h="5873115">
                  <a:moveTo>
                    <a:pt x="203200" y="0"/>
                  </a:moveTo>
                  <a:lnTo>
                    <a:pt x="10712450" y="0"/>
                  </a:lnTo>
                  <a:cubicBezTo>
                    <a:pt x="10824674" y="0"/>
                    <a:pt x="10915650" y="90976"/>
                    <a:pt x="10915650" y="203200"/>
                  </a:cubicBezTo>
                  <a:lnTo>
                    <a:pt x="10915650" y="5669915"/>
                  </a:lnTo>
                  <a:cubicBezTo>
                    <a:pt x="10915650" y="5723807"/>
                    <a:pt x="10894241" y="5775492"/>
                    <a:pt x="10856134" y="5813599"/>
                  </a:cubicBezTo>
                  <a:cubicBezTo>
                    <a:pt x="10818027" y="5851707"/>
                    <a:pt x="10766342" y="5873115"/>
                    <a:pt x="10712450" y="5873115"/>
                  </a:cubicBezTo>
                  <a:lnTo>
                    <a:pt x="203200" y="5873115"/>
                  </a:lnTo>
                  <a:cubicBezTo>
                    <a:pt x="90976" y="5873115"/>
                    <a:pt x="0" y="5782139"/>
                    <a:pt x="0" y="5669915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blipFill>
              <a:blip r:embed="rId3"/>
              <a:stretch>
                <a:fillRect t="-188" b="-187"/>
              </a:stretch>
            </a:blipFill>
            <a:ln w="38100" cap="sq">
              <a:solidFill>
                <a:srgbClr val="D6E0EA"/>
              </a:solidFill>
              <a:prstDash val="solid"/>
              <a:miter/>
            </a:ln>
          </p:spPr>
        </p:sp>
      </p:grpSp>
      <p:sp>
        <p:nvSpPr>
          <p:cNvPr id="25" name="AutoShape 25">
            <a:extLst>
              <a:ext uri="{FF2B5EF4-FFF2-40B4-BE49-F238E27FC236}">
                <a16:creationId xmlns:a16="http://schemas.microsoft.com/office/drawing/2014/main" id="{CA6DCFF6-1E8F-C59B-9937-2C921513A291}"/>
              </a:ext>
            </a:extLst>
          </p:cNvPr>
          <p:cNvSpPr/>
          <p:nvPr/>
        </p:nvSpPr>
        <p:spPr>
          <a:xfrm>
            <a:off x="742949" y="952500"/>
            <a:ext cx="16473488" cy="0"/>
          </a:xfrm>
          <a:prstGeom prst="line">
            <a:avLst/>
          </a:prstGeom>
          <a:ln w="38100" cap="flat">
            <a:solidFill>
              <a:srgbClr val="D6E0EA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4807A81-ED03-6EBB-D795-3BDA41CA36CF}"/>
              </a:ext>
            </a:extLst>
          </p:cNvPr>
          <p:cNvSpPr txBox="1"/>
          <p:nvPr/>
        </p:nvSpPr>
        <p:spPr>
          <a:xfrm>
            <a:off x="742948" y="303439"/>
            <a:ext cx="1282065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000" dirty="0">
                <a:solidFill>
                  <a:srgbClr val="319A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Motivation: Clean Energy Reliability &amp; Economic Viability</a:t>
            </a:r>
            <a:endParaRPr lang="en-IN" sz="13800" dirty="0">
              <a:solidFill>
                <a:srgbClr val="319AD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E60B8F36-CC3A-DD9D-FE1B-80DB4A57C595}"/>
              </a:ext>
            </a:extLst>
          </p:cNvPr>
          <p:cNvSpPr txBox="1"/>
          <p:nvPr/>
        </p:nvSpPr>
        <p:spPr>
          <a:xfrm>
            <a:off x="687736" y="1409700"/>
            <a:ext cx="10417704" cy="8309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Challenge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SCADA anomalies do not automatically indicate equipment failure. Grid curtailment, environmental conditions and sensor issues can produce deviations that resemble faults.</a:t>
            </a:r>
          </a:p>
          <a:p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Challenge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 need to distinguish equipment-related anomalies from operationally explainable deviations before maintenance decisions are made.</a:t>
            </a:r>
          </a:p>
          <a:p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Decision-Support Gap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alarm signals provide limited context about cause, technical evidence and potential financial impact.</a:t>
            </a:r>
          </a:p>
          <a:p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Need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physics-informed modelling, contextual reasoning, technical evidence retrieval and human review in one auditable workflow.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AE0AC6C-1308-4507-D88D-C5879C2914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9253" y="990600"/>
            <a:ext cx="6670147" cy="933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999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00641-90D1-B75A-4D0B-8EEE9CB2F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C180EB2-3174-3CD9-D635-684B6C3B7F7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0" r="-390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CFF612B-D60E-87D3-A8B7-B6A60E4A6DB0}"/>
              </a:ext>
            </a:extLst>
          </p:cNvPr>
          <p:cNvGrpSpPr/>
          <p:nvPr/>
        </p:nvGrpSpPr>
        <p:grpSpPr>
          <a:xfrm>
            <a:off x="457199" y="1206933"/>
            <a:ext cx="10878779" cy="4482350"/>
            <a:chOff x="0" y="0"/>
            <a:chExt cx="10915650" cy="5873052"/>
          </a:xfrm>
        </p:grpSpPr>
        <p:sp>
          <p:nvSpPr>
            <p:cNvPr id="4" name="Freeform 4" descr="image.png">
              <a:extLst>
                <a:ext uri="{FF2B5EF4-FFF2-40B4-BE49-F238E27FC236}">
                  <a16:creationId xmlns:a16="http://schemas.microsoft.com/office/drawing/2014/main" id="{5B774B4F-5D03-9196-4FD1-05B7D36F76B5}"/>
                </a:ext>
              </a:extLst>
            </p:cNvPr>
            <p:cNvSpPr/>
            <p:nvPr/>
          </p:nvSpPr>
          <p:spPr>
            <a:xfrm>
              <a:off x="0" y="0"/>
              <a:ext cx="10915650" cy="5873115"/>
            </a:xfrm>
            <a:custGeom>
              <a:avLst/>
              <a:gdLst/>
              <a:ahLst/>
              <a:cxnLst/>
              <a:rect l="l" t="t" r="r" b="b"/>
              <a:pathLst>
                <a:path w="10915650" h="5873115">
                  <a:moveTo>
                    <a:pt x="203200" y="0"/>
                  </a:moveTo>
                  <a:lnTo>
                    <a:pt x="10712450" y="0"/>
                  </a:lnTo>
                  <a:cubicBezTo>
                    <a:pt x="10824674" y="0"/>
                    <a:pt x="10915650" y="90976"/>
                    <a:pt x="10915650" y="203200"/>
                  </a:cubicBezTo>
                  <a:lnTo>
                    <a:pt x="10915650" y="5669915"/>
                  </a:lnTo>
                  <a:cubicBezTo>
                    <a:pt x="10915650" y="5723807"/>
                    <a:pt x="10894241" y="5775492"/>
                    <a:pt x="10856134" y="5813599"/>
                  </a:cubicBezTo>
                  <a:cubicBezTo>
                    <a:pt x="10818027" y="5851707"/>
                    <a:pt x="10766342" y="5873115"/>
                    <a:pt x="10712450" y="5873115"/>
                  </a:cubicBezTo>
                  <a:lnTo>
                    <a:pt x="203200" y="5873115"/>
                  </a:lnTo>
                  <a:cubicBezTo>
                    <a:pt x="90976" y="5873115"/>
                    <a:pt x="0" y="5782139"/>
                    <a:pt x="0" y="5669915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blipFill>
              <a:blip r:embed="rId3"/>
              <a:stretch>
                <a:fillRect t="-188" b="-187"/>
              </a:stretch>
            </a:blipFill>
            <a:ln w="38100" cap="sq">
              <a:solidFill>
                <a:srgbClr val="D6E0EA"/>
              </a:solidFill>
              <a:prstDash val="solid"/>
              <a:miter/>
            </a:ln>
          </p:spPr>
        </p:sp>
      </p:grpSp>
      <p:sp>
        <p:nvSpPr>
          <p:cNvPr id="25" name="AutoShape 25">
            <a:extLst>
              <a:ext uri="{FF2B5EF4-FFF2-40B4-BE49-F238E27FC236}">
                <a16:creationId xmlns:a16="http://schemas.microsoft.com/office/drawing/2014/main" id="{761272EF-8374-15CF-0DDF-CC02259F5EE9}"/>
              </a:ext>
            </a:extLst>
          </p:cNvPr>
          <p:cNvSpPr/>
          <p:nvPr/>
        </p:nvSpPr>
        <p:spPr>
          <a:xfrm>
            <a:off x="742949" y="952500"/>
            <a:ext cx="16473488" cy="0"/>
          </a:xfrm>
          <a:prstGeom prst="line">
            <a:avLst/>
          </a:prstGeom>
          <a:ln w="38100" cap="flat">
            <a:solidFill>
              <a:srgbClr val="D6E0EA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C39FD7E-A073-3A5E-6505-CD6725DBF8F7}"/>
              </a:ext>
            </a:extLst>
          </p:cNvPr>
          <p:cNvSpPr txBox="1"/>
          <p:nvPr/>
        </p:nvSpPr>
        <p:spPr>
          <a:xfrm>
            <a:off x="742948" y="303439"/>
            <a:ext cx="14344652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000" dirty="0">
                <a:solidFill>
                  <a:srgbClr val="319A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Solution: </a:t>
            </a:r>
            <a:r>
              <a:rPr lang="en-IN" sz="4000" dirty="0" err="1">
                <a:solidFill>
                  <a:srgbClr val="319A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WindGuard</a:t>
            </a:r>
            <a:r>
              <a:rPr lang="en-IN" sz="4000" dirty="0">
                <a:solidFill>
                  <a:srgbClr val="319A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Hybrid Decision Support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4">
                <a:extLst>
                  <a:ext uri="{FF2B5EF4-FFF2-40B4-BE49-F238E27FC236}">
                    <a16:creationId xmlns:a16="http://schemas.microsoft.com/office/drawing/2014/main" id="{F794E707-04F2-8423-14B9-C424D75F3C2E}"/>
                  </a:ext>
                </a:extLst>
              </p:cNvPr>
              <p:cNvSpPr txBox="1"/>
              <p:nvPr/>
            </p:nvSpPr>
            <p:spPr>
              <a:xfrm>
                <a:off x="687736" y="1257300"/>
                <a:ext cx="10417704" cy="443198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lvl="0"/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Hybrid Synergy (Overcoming Black-Box &amp; Cloud LLM Limitations):</a:t>
                </a:r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Passive Digital Shadow: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Physical ODE baseline + ML regressors establish expected aerodynamic and thermal states.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Context-Aware Precedence Filtering: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Distinguishes grid curtailment and summer heatwaves from genuine mechanical failures.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Offline Deterministic RAG: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IN" sz="2400" dirty="0"/>
                  <a:t>7 governed technical documents / 29 chunks with explicit provenance.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Mathematical Guardrails: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Post-synthesis validator cross-checks reported metrics with analytical calculations down to </a:t>
                </a:r>
                <a14:m>
                  <m:oMath xmlns:m="http://schemas.openxmlformats.org/officeDocument/2006/math">
                    <m:r>
                      <a:rPr lang="en-IN" sz="2400"/>
                      <m:t>0.01</m:t>
                    </m:r>
                    <m:r>
                      <m:rPr>
                        <m:nor/>
                      </m:rPr>
                      <a: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INR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Deterministic Mode A Template Synthesis: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Sub-millisecond structured JSON advisory generation with zero cloud latency and c</a:t>
                </a:r>
                <a:r>
                  <a:rPr lang="en-IN" sz="2400" dirty="0"/>
                  <a:t>onstrained local advisory generation with numerical and provenance guardrails.</a:t>
                </a:r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4" name="TextBox 34">
                <a:extLst>
                  <a:ext uri="{FF2B5EF4-FFF2-40B4-BE49-F238E27FC236}">
                    <a16:creationId xmlns:a16="http://schemas.microsoft.com/office/drawing/2014/main" id="{F794E707-04F2-8423-14B9-C424D75F3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736" y="1257300"/>
                <a:ext cx="10417704" cy="4431983"/>
              </a:xfrm>
              <a:prstGeom prst="rect">
                <a:avLst/>
              </a:prstGeom>
              <a:blipFill>
                <a:blip r:embed="rId4"/>
                <a:stretch>
                  <a:fillRect l="-1814" t="-2063" b="-33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36CB1161-5D33-B7AB-C48D-BBE7BE3D71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66515" y="1022925"/>
            <a:ext cx="6627839" cy="919365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03EEC3A2-C940-1EFF-20BA-0ADDBC6E27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0978428"/>
                  </p:ext>
                </p:extLst>
              </p:nvPr>
            </p:nvGraphicFramePr>
            <p:xfrm>
              <a:off x="288338" y="5857901"/>
              <a:ext cx="10989840" cy="4482395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747460">
                      <a:extLst>
                        <a:ext uri="{9D8B030D-6E8A-4147-A177-3AD203B41FA5}">
                          <a16:colId xmlns:a16="http://schemas.microsoft.com/office/drawing/2014/main" val="3822232641"/>
                        </a:ext>
                      </a:extLst>
                    </a:gridCol>
                    <a:gridCol w="2747460">
                      <a:extLst>
                        <a:ext uri="{9D8B030D-6E8A-4147-A177-3AD203B41FA5}">
                          <a16:colId xmlns:a16="http://schemas.microsoft.com/office/drawing/2014/main" val="917966643"/>
                        </a:ext>
                      </a:extLst>
                    </a:gridCol>
                    <a:gridCol w="2747460">
                      <a:extLst>
                        <a:ext uri="{9D8B030D-6E8A-4147-A177-3AD203B41FA5}">
                          <a16:colId xmlns:a16="http://schemas.microsoft.com/office/drawing/2014/main" val="2976326627"/>
                        </a:ext>
                      </a:extLst>
                    </a:gridCol>
                    <a:gridCol w="2747460">
                      <a:extLst>
                        <a:ext uri="{9D8B030D-6E8A-4147-A177-3AD203B41FA5}">
                          <a16:colId xmlns:a16="http://schemas.microsoft.com/office/drawing/2014/main" val="500039539"/>
                        </a:ext>
                      </a:extLst>
                    </a:gridCol>
                  </a:tblGrid>
                  <a:tr h="624025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Feature Dimension</a:t>
                          </a:r>
                          <a:endParaRPr lang="en-IN" sz="1800" b="1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Traditional SCADA</a:t>
                          </a:r>
                          <a:endParaRPr lang="en-IN" sz="1800" b="1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Cloud Black-Box AI</a:t>
                          </a:r>
                          <a:endParaRPr lang="en-IN" sz="1800" b="1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1" dirty="0" err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WindGuard</a:t>
                          </a:r>
                          <a:r>
                            <a:rPr lang="en-IN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AI Hybrid</a:t>
                          </a:r>
                          <a:endParaRPr lang="en-IN" sz="1800" b="1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81839091"/>
                      </a:ext>
                    </a:extLst>
                  </a:tr>
                  <a:tr h="624025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8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False Alarm Rate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IN" sz="1800" smtClean="0">
                                  <a:solidFill>
                                    <a:schemeClr val="tx1"/>
                                  </a:solidFill>
                                </a:rPr>
                                <m:t>&gt;</m:t>
                              </m:r>
                              <m:r>
                                <a:rPr lang="en-IN" sz="1800">
                                  <a:solidFill>
                                    <a:schemeClr val="tx1"/>
                                  </a:solidFill>
                                </a:rPr>
                                <m:t>85%</m:t>
                              </m:r>
                            </m:oMath>
                          </a14:m>
                          <a:r>
                            <a:rPr lang="en-IN" sz="18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(Severe Noise)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Moderate (</a:t>
                          </a:r>
                          <a14:m>
                            <m:oMath xmlns:m="http://schemas.openxmlformats.org/officeDocument/2006/math">
                              <m:r>
                                <a:rPr lang="en-IN" sz="1800">
                                  <a:solidFill>
                                    <a:schemeClr val="tx1"/>
                                  </a:solidFill>
                                </a:rPr>
                                <m:t>15%−25%</m:t>
                              </m:r>
                            </m:oMath>
                          </a14:m>
                          <a:r>
                            <a:rPr lang="en-IN" sz="18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IN" sz="1800" smtClean="0">
                                  <a:solidFill>
                                    <a:schemeClr val="tx1"/>
                                  </a:solidFill>
                                </a:rPr>
                                <m:t>3.64</m:t>
                              </m:r>
                              <m:r>
                                <a:rPr lang="en-IN" sz="1800">
                                  <a:solidFill>
                                    <a:schemeClr val="tx1"/>
                                  </a:solidFill>
                                </a:rPr>
                                <m:t>%</m:t>
                              </m:r>
                            </m:oMath>
                          </a14:m>
                          <a:r>
                            <a:rPr lang="en-IN" sz="18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(Context-Filtered)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5219587"/>
                      </a:ext>
                    </a:extLst>
                  </a:tr>
                  <a:tr h="624025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Physical Interpretability</a:t>
                          </a:r>
                          <a:endParaRPr lang="en-IN" sz="1800" b="0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 (Static Limits)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Very Low (Black Box)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High (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IN" sz="1800">
                                  <a:solidFill>
                                    <a:schemeClr val="tx1"/>
                                  </a:solidFill>
                                </a:rPr>
                                <m:t>Δ</m:t>
                              </m:r>
                              <m:r>
                                <a:rPr lang="en-IN" sz="1800">
                                  <a:solidFill>
                                    <a:schemeClr val="tx1"/>
                                  </a:solidFill>
                                </a:rPr>
                                <m:t>𝑃</m:t>
                              </m:r>
                              <m:r>
                                <a:rPr lang="en-IN" sz="1800">
                                  <a:solidFill>
                                    <a:schemeClr val="tx1"/>
                                  </a:solidFill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IN" sz="1800">
                                  <a:solidFill>
                                    <a:schemeClr val="tx1"/>
                                  </a:solidFill>
                                </a:rPr>
                                <m:t>Δ</m:t>
                              </m:r>
                              <m:r>
                                <a:rPr lang="en-IN" sz="1800">
                                  <a:solidFill>
                                    <a:schemeClr val="tx1"/>
                                  </a:solidFill>
                                </a:rPr>
                                <m:t>𝑇</m:t>
                              </m:r>
                            </m:oMath>
                          </a14:m>
                          <a:r>
                            <a:rPr lang="en-IN" sz="18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Residuals)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2024980"/>
                      </a:ext>
                    </a:extLst>
                  </a:tr>
                  <a:tr h="652580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8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Financial Awareness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None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None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Real-Time Tariff Loss Engine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07082181"/>
                      </a:ext>
                    </a:extLst>
                  </a:tr>
                  <a:tr h="652580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Actionable Guidance</a:t>
                          </a:r>
                          <a:endParaRPr lang="en-IN" sz="1800" b="0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Manual PDF Lookup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Unbounded LLM Guessing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Governed RAG (MRR = 1.0)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68029080"/>
                      </a:ext>
                    </a:extLst>
                  </a:tr>
                  <a:tr h="652580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8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Actuation Safety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Manual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Hallucination Risk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Strict HITL / 0 Control Routes</a:t>
                          </a:r>
                          <a:endParaRPr lang="en-IN" sz="1800" b="0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60207267"/>
                      </a:ext>
                    </a:extLst>
                  </a:tr>
                  <a:tr h="652580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8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Cloud Dependency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None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Mandatory Cloud API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Designed for local/offline execution with zero cloud LLM dependency</a:t>
                          </a:r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en-IN" sz="1800" b="0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2049691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03EEC3A2-C940-1EFF-20BA-0ADDBC6E27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0978428"/>
                  </p:ext>
                </p:extLst>
              </p:nvPr>
            </p:nvGraphicFramePr>
            <p:xfrm>
              <a:off x="288338" y="5857901"/>
              <a:ext cx="10989840" cy="4482395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747460">
                      <a:extLst>
                        <a:ext uri="{9D8B030D-6E8A-4147-A177-3AD203B41FA5}">
                          <a16:colId xmlns:a16="http://schemas.microsoft.com/office/drawing/2014/main" val="3822232641"/>
                        </a:ext>
                      </a:extLst>
                    </a:gridCol>
                    <a:gridCol w="2747460">
                      <a:extLst>
                        <a:ext uri="{9D8B030D-6E8A-4147-A177-3AD203B41FA5}">
                          <a16:colId xmlns:a16="http://schemas.microsoft.com/office/drawing/2014/main" val="917966643"/>
                        </a:ext>
                      </a:extLst>
                    </a:gridCol>
                    <a:gridCol w="2747460">
                      <a:extLst>
                        <a:ext uri="{9D8B030D-6E8A-4147-A177-3AD203B41FA5}">
                          <a16:colId xmlns:a16="http://schemas.microsoft.com/office/drawing/2014/main" val="2976326627"/>
                        </a:ext>
                      </a:extLst>
                    </a:gridCol>
                    <a:gridCol w="2747460">
                      <a:extLst>
                        <a:ext uri="{9D8B030D-6E8A-4147-A177-3AD203B41FA5}">
                          <a16:colId xmlns:a16="http://schemas.microsoft.com/office/drawing/2014/main" val="500039539"/>
                        </a:ext>
                      </a:extLst>
                    </a:gridCol>
                  </a:tblGrid>
                  <a:tr h="624025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Feature Dimension</a:t>
                          </a:r>
                          <a:endParaRPr lang="en-IN" sz="1800" b="1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Traditional SCADA</a:t>
                          </a:r>
                          <a:endParaRPr lang="en-IN" sz="1800" b="1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Cloud Black-Box AI</a:t>
                          </a:r>
                          <a:endParaRPr lang="en-IN" sz="1800" b="1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1" dirty="0" err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WindGuard</a:t>
                          </a:r>
                          <a:r>
                            <a:rPr lang="en-IN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AI Hybrid</a:t>
                          </a:r>
                          <a:endParaRPr lang="en-IN" sz="1800" b="1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81839091"/>
                      </a:ext>
                    </a:extLst>
                  </a:tr>
                  <a:tr h="624025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8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False Alarm Rate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00000" t="-101961" r="-200222" b="-5284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00000" t="-101961" r="-100222" b="-5284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300000" t="-101961" r="-222" b="-5284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5219587"/>
                      </a:ext>
                    </a:extLst>
                  </a:tr>
                  <a:tr h="624025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Physical Interpretability</a:t>
                          </a:r>
                          <a:endParaRPr lang="en-IN" sz="1800" b="0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 (Static Limits)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Very Low (Black Box)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300000" t="-200000" r="-222" b="-4233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024980"/>
                      </a:ext>
                    </a:extLst>
                  </a:tr>
                  <a:tr h="652580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8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Financial Awareness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None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None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Real-Time Tariff Loss Engine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07082181"/>
                      </a:ext>
                    </a:extLst>
                  </a:tr>
                  <a:tr h="652580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Actionable Guidance</a:t>
                          </a:r>
                          <a:endParaRPr lang="en-IN" sz="1800" b="0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Manual PDF Lookup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Unbounded LLM Guessing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Governed RAG (MRR = 1.0)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68029080"/>
                      </a:ext>
                    </a:extLst>
                  </a:tr>
                  <a:tr h="652580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8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Actuation Safety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Manual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Hallucination Risk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Strict HITL / 0 Control Routes</a:t>
                          </a:r>
                          <a:endParaRPr lang="en-IN" sz="1800" b="0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60207267"/>
                      </a:ext>
                    </a:extLst>
                  </a:tr>
                  <a:tr h="652580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8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Cloud Dependency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None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8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Mandatory Cloud API</a:t>
                          </a:r>
                          <a:endParaRPr lang="en-IN" sz="18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Designed for local/offline execution with zero cloud LLM dependency</a:t>
                          </a:r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en-IN" sz="1800" b="0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2049691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04332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A1AAC-6E19-7340-1FBA-E0CF9D4D5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6E1131F-D542-BA14-FF6D-7F2E529BB3F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0" r="-390"/>
            </a:stretch>
          </a:blipFill>
        </p:spPr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E755E525-53D9-4319-2138-C59058FBB776}"/>
              </a:ext>
            </a:extLst>
          </p:cNvPr>
          <p:cNvSpPr/>
          <p:nvPr/>
        </p:nvSpPr>
        <p:spPr>
          <a:xfrm>
            <a:off x="742949" y="952500"/>
            <a:ext cx="16473488" cy="0"/>
          </a:xfrm>
          <a:prstGeom prst="line">
            <a:avLst/>
          </a:prstGeom>
          <a:ln w="38100" cap="flat">
            <a:solidFill>
              <a:srgbClr val="D6E0EA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7D299E4A-60D4-5E74-778A-1CB889845DAA}"/>
              </a:ext>
            </a:extLst>
          </p:cNvPr>
          <p:cNvSpPr txBox="1"/>
          <p:nvPr/>
        </p:nvSpPr>
        <p:spPr>
          <a:xfrm>
            <a:off x="742948" y="303439"/>
            <a:ext cx="14344652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000" dirty="0">
                <a:solidFill>
                  <a:srgbClr val="319A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Users &amp; Key Stakeholder Ecosystem</a:t>
            </a:r>
            <a:endParaRPr lang="en-IN" sz="7200" dirty="0">
              <a:solidFill>
                <a:srgbClr val="319AD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E6B25DB-13A3-EAD3-34DB-AAC7A908096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4062749"/>
                  </p:ext>
                </p:extLst>
              </p:nvPr>
            </p:nvGraphicFramePr>
            <p:xfrm>
              <a:off x="283367" y="1241157"/>
              <a:ext cx="17392652" cy="8742398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4348163">
                      <a:extLst>
                        <a:ext uri="{9D8B030D-6E8A-4147-A177-3AD203B41FA5}">
                          <a16:colId xmlns:a16="http://schemas.microsoft.com/office/drawing/2014/main" val="2227872100"/>
                        </a:ext>
                      </a:extLst>
                    </a:gridCol>
                    <a:gridCol w="4348163">
                      <a:extLst>
                        <a:ext uri="{9D8B030D-6E8A-4147-A177-3AD203B41FA5}">
                          <a16:colId xmlns:a16="http://schemas.microsoft.com/office/drawing/2014/main" val="2823853405"/>
                        </a:ext>
                      </a:extLst>
                    </a:gridCol>
                    <a:gridCol w="4348163">
                      <a:extLst>
                        <a:ext uri="{9D8B030D-6E8A-4147-A177-3AD203B41FA5}">
                          <a16:colId xmlns:a16="http://schemas.microsoft.com/office/drawing/2014/main" val="4186608322"/>
                        </a:ext>
                      </a:extLst>
                    </a:gridCol>
                    <a:gridCol w="4348163">
                      <a:extLst>
                        <a:ext uri="{9D8B030D-6E8A-4147-A177-3AD203B41FA5}">
                          <a16:colId xmlns:a16="http://schemas.microsoft.com/office/drawing/2014/main" val="1604702701"/>
                        </a:ext>
                      </a:extLst>
                    </a:gridCol>
                  </a:tblGrid>
                  <a:tr h="505624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Stakeholder Persona</a:t>
                          </a:r>
                          <a:endParaRPr lang="en-IN" sz="2500" b="1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Location / Role</a:t>
                          </a:r>
                          <a:endParaRPr lang="en-IN" sz="2500" b="1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Primary Pain Point</a:t>
                          </a:r>
                          <a:endParaRPr lang="en-IN" sz="2500" b="1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1" dirty="0" err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WindGuard</a:t>
                          </a:r>
                          <a:r>
                            <a:rPr lang="en-IN" sz="25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AI Solution</a:t>
                          </a:r>
                          <a:endParaRPr lang="en-IN" sz="2500" b="1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8990473"/>
                      </a:ext>
                    </a:extLst>
                  </a:tr>
                  <a:tr h="1728907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 Lead O&amp;M Operations Engineer</a:t>
                          </a:r>
                          <a:r>
                            <a:rPr lang="en-IN" sz="25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(Primary)</a:t>
                          </a:r>
                          <a:endParaRPr lang="en-IN" sz="2500" b="0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Remote Operations </a:t>
                          </a:r>
                          <a:r>
                            <a:rPr lang="en-IN" sz="2500" b="0" dirty="0" err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Center</a:t>
                          </a:r>
                          <a:r>
                            <a:rPr lang="en-IN" sz="25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(ROC)</a:t>
                          </a:r>
                          <a:endParaRPr lang="en-IN" sz="2500" b="0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Inundated with 300+ daily SCADA alarms; manual cross-referencing of 500-page manuals.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Context-filtered fleet alerts (</a:t>
                          </a:r>
                          <a14:m>
                            <m:oMath xmlns:m="http://schemas.openxmlformats.org/officeDocument/2006/math">
                              <m:r>
                                <a:rPr lang="en-IN" sz="2500">
                                  <a:solidFill>
                                    <a:schemeClr val="tx1"/>
                                  </a:solidFill>
                                </a:rPr>
                                <m:t>3.64%</m:t>
                              </m:r>
                            </m:oMath>
                          </a14:m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FAR), automated RAG citations, and 0–100 priority ranking.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0393535"/>
                      </a:ext>
                    </a:extLst>
                  </a:tr>
                  <a:tr h="1728907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 Field Maintenance Technician</a:t>
                          </a:r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(Secondary)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Nacelle / On-site Substation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Climbing towers without knowing root cause, specific replacement parts, or OEM SOPs.</a:t>
                          </a:r>
                          <a:endParaRPr lang="en-IN" sz="2500" b="0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Printable structured work orders with step-by-step OEM chapter citations &amp; tool checklists.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53866952"/>
                      </a:ext>
                    </a:extLst>
                  </a:tr>
                  <a:tr h="1321146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 Renewable Asset Portfolio Manager</a:t>
                          </a:r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(Executive)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Corporate Asset Management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Unplanned downtime eroding PPA contract revenue and reducing fleet CUF.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Real-time tariff-driven financial loss tracking (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IN" sz="2500" b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INR/hr</m:t>
                              </m:r>
                            </m:oMath>
                          </a14:m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 and maintenance ROI metrics.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067472"/>
                      </a:ext>
                    </a:extLst>
                  </a:tr>
                  <a:tr h="1728907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 Grid Transmission Operator (DISCOM / SLDC)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State Load Despatch Center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Unpredictable wind farm tripping causing sudden grid frequency imbalances.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Predictable maintenance scheduling and zero false tripping during grid curtailment events.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11013666"/>
                      </a:ext>
                    </a:extLst>
                  </a:tr>
                  <a:tr h="1728907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 Safety &amp; Regulatory Compliance Officer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Regulatory / Audit Board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AI black-box hallucinations and unauthorized autonomous machine commands.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Immutable append-only audit trail (</a:t>
                          </a:r>
                          <a:r>
                            <a:rPr lang="en-IN" sz="2500" b="0" dirty="0" err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audit_log.jsonl</a:t>
                          </a:r>
                          <a:r>
                            <a:rPr lang="en-IN" sz="25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 and 100% lockout of autonomous actuation.</a:t>
                          </a:r>
                          <a:endParaRPr lang="en-IN" sz="2500" b="0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1304614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E6B25DB-13A3-EAD3-34DB-AAC7A908096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4062749"/>
                  </p:ext>
                </p:extLst>
              </p:nvPr>
            </p:nvGraphicFramePr>
            <p:xfrm>
              <a:off x="283367" y="1241157"/>
              <a:ext cx="17392652" cy="8742398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4348163">
                      <a:extLst>
                        <a:ext uri="{9D8B030D-6E8A-4147-A177-3AD203B41FA5}">
                          <a16:colId xmlns:a16="http://schemas.microsoft.com/office/drawing/2014/main" val="2227872100"/>
                        </a:ext>
                      </a:extLst>
                    </a:gridCol>
                    <a:gridCol w="4348163">
                      <a:extLst>
                        <a:ext uri="{9D8B030D-6E8A-4147-A177-3AD203B41FA5}">
                          <a16:colId xmlns:a16="http://schemas.microsoft.com/office/drawing/2014/main" val="2823853405"/>
                        </a:ext>
                      </a:extLst>
                    </a:gridCol>
                    <a:gridCol w="4348163">
                      <a:extLst>
                        <a:ext uri="{9D8B030D-6E8A-4147-A177-3AD203B41FA5}">
                          <a16:colId xmlns:a16="http://schemas.microsoft.com/office/drawing/2014/main" val="4186608322"/>
                        </a:ext>
                      </a:extLst>
                    </a:gridCol>
                    <a:gridCol w="4348163">
                      <a:extLst>
                        <a:ext uri="{9D8B030D-6E8A-4147-A177-3AD203B41FA5}">
                          <a16:colId xmlns:a16="http://schemas.microsoft.com/office/drawing/2014/main" val="1604702701"/>
                        </a:ext>
                      </a:extLst>
                    </a:gridCol>
                  </a:tblGrid>
                  <a:tr h="505624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Stakeholder Persona</a:t>
                          </a:r>
                          <a:endParaRPr lang="en-IN" sz="2500" b="1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Location / Role</a:t>
                          </a:r>
                          <a:endParaRPr lang="en-IN" sz="2500" b="1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Primary Pain Point</a:t>
                          </a:r>
                          <a:endParaRPr lang="en-IN" sz="2500" b="1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1" dirty="0" err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WindGuard</a:t>
                          </a:r>
                          <a:r>
                            <a:rPr lang="en-IN" sz="25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AI Solution</a:t>
                          </a:r>
                          <a:endParaRPr lang="en-IN" sz="2500" b="1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8990473"/>
                      </a:ext>
                    </a:extLst>
                  </a:tr>
                  <a:tr h="1728907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 Lead O&amp;M Operations Engineer</a:t>
                          </a:r>
                          <a:r>
                            <a:rPr lang="en-IN" sz="25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(Primary)</a:t>
                          </a:r>
                          <a:endParaRPr lang="en-IN" sz="2500" b="0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Remote Operations </a:t>
                          </a:r>
                          <a:r>
                            <a:rPr lang="en-IN" sz="2500" b="0" dirty="0" err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Center</a:t>
                          </a:r>
                          <a:r>
                            <a:rPr lang="en-IN" sz="25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(ROC)</a:t>
                          </a:r>
                          <a:endParaRPr lang="en-IN" sz="2500" b="0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Inundated with 300+ daily SCADA alarms; manual cross-referencing of 500-page manuals.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281" t="-30986" r="-140" b="-3809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0393535"/>
                      </a:ext>
                    </a:extLst>
                  </a:tr>
                  <a:tr h="1728907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 Field Maintenance Technician</a:t>
                          </a:r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(Secondary)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Nacelle / On-site Substation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Climbing towers without knowing root cause, specific replacement parts, or OEM SOPs.</a:t>
                          </a:r>
                          <a:endParaRPr lang="en-IN" sz="2500" b="0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Printable structured work orders with step-by-step OEM chapter citations &amp; tool checklists.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53866952"/>
                      </a:ext>
                    </a:extLst>
                  </a:tr>
                  <a:tr h="1321146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 Renewable Asset Portfolio Manager</a:t>
                          </a:r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(Executive)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Corporate Asset Management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Unplanned downtime eroding PPA contract revenue and reducing fleet CUF.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281" t="-303704" r="-140" b="-269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5067472"/>
                      </a:ext>
                    </a:extLst>
                  </a:tr>
                  <a:tr h="1728907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 Grid Transmission Operator (DISCOM / SLDC)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State Load Despatch Center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Unpredictable wind farm tripping causing sudden grid frequency imbalances.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Predictable maintenance scheduling and zero false tripping during grid curtailment events.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11013666"/>
                      </a:ext>
                    </a:extLst>
                  </a:tr>
                  <a:tr h="1728907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 Safety &amp; Regulatory Compliance Officer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Regulatory / Audit Board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AI black-box hallucinations and unauthorized autonomous machine commands.</a:t>
                          </a:r>
                          <a:endParaRPr lang="en-IN" sz="25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5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Immutable append-only audit trail (</a:t>
                          </a:r>
                          <a:r>
                            <a:rPr lang="en-IN" sz="2500" b="0" dirty="0" err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audit_log.jsonl</a:t>
                          </a:r>
                          <a:r>
                            <a:rPr lang="en-IN" sz="25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 and 100% lockout of autonomous actuation.</a:t>
                          </a:r>
                          <a:endParaRPr lang="en-IN" sz="2500" b="0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130461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79082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C4B6B-0DE2-D8C8-2D9A-86B065C6D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41F4BF3-CC60-F3C2-A7D2-FB6AF5E537A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0" r="-390"/>
            </a:stretch>
          </a:blipFill>
        </p:spPr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8ED63DC5-3042-8073-BD61-C02D3748FF39}"/>
              </a:ext>
            </a:extLst>
          </p:cNvPr>
          <p:cNvSpPr/>
          <p:nvPr/>
        </p:nvSpPr>
        <p:spPr>
          <a:xfrm>
            <a:off x="742949" y="952500"/>
            <a:ext cx="16473488" cy="0"/>
          </a:xfrm>
          <a:prstGeom prst="line">
            <a:avLst/>
          </a:prstGeom>
          <a:ln w="38100" cap="flat">
            <a:solidFill>
              <a:srgbClr val="D6E0EA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9E95843D-52C3-1ED2-081A-8331851BDB1B}"/>
              </a:ext>
            </a:extLst>
          </p:cNvPr>
          <p:cNvSpPr txBox="1"/>
          <p:nvPr/>
        </p:nvSpPr>
        <p:spPr>
          <a:xfrm>
            <a:off x="742948" y="303439"/>
            <a:ext cx="14344652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000" dirty="0">
                <a:solidFill>
                  <a:srgbClr val="319A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 Canonical 6-Layer Modular Design</a:t>
            </a:r>
            <a:endParaRPr lang="en-IN" sz="7200" dirty="0">
              <a:solidFill>
                <a:srgbClr val="319AD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0F0F36B-04AA-2847-4076-13D2CF534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455206"/>
              </p:ext>
            </p:extLst>
          </p:nvPr>
        </p:nvGraphicFramePr>
        <p:xfrm>
          <a:off x="9860553" y="1804393"/>
          <a:ext cx="7848600" cy="83059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924300">
                  <a:extLst>
                    <a:ext uri="{9D8B030D-6E8A-4147-A177-3AD203B41FA5}">
                      <a16:colId xmlns:a16="http://schemas.microsoft.com/office/drawing/2014/main" val="853379428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1379167190"/>
                    </a:ext>
                  </a:extLst>
                </a:gridCol>
              </a:tblGrid>
              <a:tr h="998300">
                <a:tc>
                  <a:txBody>
                    <a:bodyPr/>
                    <a:lstStyle/>
                    <a:p>
                      <a:r>
                        <a:rPr lang="en-IN" sz="2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&amp; API Framework 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3.10–3.13, </a:t>
                      </a:r>
                      <a:r>
                        <a:rPr lang="en-IN" sz="24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FastAPI</a:t>
                      </a:r>
                      <a:r>
                        <a:rPr lang="en-IN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24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Uvicorn</a:t>
                      </a:r>
                      <a:r>
                        <a:rPr lang="en-IN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(ASGI), </a:t>
                      </a:r>
                      <a:r>
                        <a:rPr lang="en-IN" sz="24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Pydantic</a:t>
                      </a:r>
                      <a:r>
                        <a:rPr lang="en-IN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v2 </a:t>
                      </a:r>
                      <a:endParaRPr lang="en-I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712254"/>
                  </a:ext>
                </a:extLst>
              </a:tr>
              <a:tr h="1145876">
                <a:tc>
                  <a:txBody>
                    <a:bodyPr/>
                    <a:lstStyle/>
                    <a:p>
                      <a:r>
                        <a:rPr lang="en-IN" sz="2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&amp; Scientific Computing 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Scikit-Learn (GBR, Random Forest), NumPy, SciPy (ODEs), Pandas</a:t>
                      </a:r>
                      <a:endParaRPr lang="en-I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468624"/>
                  </a:ext>
                </a:extLst>
              </a:tr>
              <a:tr h="1145876">
                <a:tc>
                  <a:txBody>
                    <a:bodyPr/>
                    <a:lstStyle/>
                    <a:p>
                      <a:r>
                        <a:rPr lang="en-IN" sz="2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Hybrid RAG Subsystem 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Okapi BM25, TF-IDF Vectorizer (scikit-learn), SHA-256 Hashing</a:t>
                      </a:r>
                      <a:endParaRPr lang="en-I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372863"/>
                  </a:ext>
                </a:extLst>
              </a:tr>
              <a:tr h="1145876">
                <a:tc>
                  <a:txBody>
                    <a:bodyPr/>
                    <a:lstStyle/>
                    <a:p>
                      <a:r>
                        <a:rPr lang="en-IN" sz="2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 &amp; Concurrency 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JSON / JSONL, Atomic File Locking (</a:t>
                      </a:r>
                      <a:r>
                        <a:rPr lang="en-IN" sz="24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portalocker</a:t>
                      </a:r>
                      <a:r>
                        <a:rPr lang="en-IN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), In-Memory Cache</a:t>
                      </a:r>
                      <a:endParaRPr lang="en-I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652784"/>
                  </a:ext>
                </a:extLst>
              </a:tr>
              <a:tr h="1145876">
                <a:tc>
                  <a:txBody>
                    <a:bodyPr/>
                    <a:lstStyle/>
                    <a:p>
                      <a:r>
                        <a:rPr lang="en-IN" sz="2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&amp; UI Engine 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Vanilla JS (ES6+), HTML5, CSS3 Custom Properties, HTML5 2D Canvas </a:t>
                      </a:r>
                      <a:endParaRPr lang="en-I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406766"/>
                  </a:ext>
                </a:extLst>
              </a:tr>
              <a:tr h="998300">
                <a:tc>
                  <a:txBody>
                    <a:bodyPr/>
                    <a:lstStyle/>
                    <a:p>
                      <a:r>
                        <a:rPr lang="en-IN" sz="2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&amp; Verification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Pytest</a:t>
                      </a:r>
                      <a:r>
                        <a:rPr lang="en-IN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24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Pytest-Asyncio</a:t>
                      </a:r>
                      <a:r>
                        <a:rPr lang="en-IN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HTTPX, Requests </a:t>
                      </a:r>
                      <a:endParaRPr lang="en-I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302727"/>
                  </a:ext>
                </a:extLst>
              </a:tr>
              <a:tr h="1498454">
                <a:tc>
                  <a:txBody>
                    <a:bodyPr/>
                    <a:lstStyle/>
                    <a:p>
                      <a:r>
                        <a:rPr lang="en-IN" sz="2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Standards &amp; Protocols 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IEC 61400-25-aligned SCADA/data concepts</a:t>
                      </a:r>
                      <a:r>
                        <a:rPr lang="en-IN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RESTful HTTP/JSON, </a:t>
                      </a:r>
                      <a:r>
                        <a:rPr lang="en-IN" sz="24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OpenAPI</a:t>
                      </a:r>
                      <a:r>
                        <a:rPr lang="en-IN" sz="24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 Swagger</a:t>
                      </a:r>
                      <a:endParaRPr lang="en-I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84259"/>
                  </a:ext>
                </a:extLst>
              </a:tr>
            </a:tbl>
          </a:graphicData>
        </a:graphic>
      </p:graphicFrame>
      <p:grpSp>
        <p:nvGrpSpPr>
          <p:cNvPr id="12" name="Group 3">
            <a:extLst>
              <a:ext uri="{FF2B5EF4-FFF2-40B4-BE49-F238E27FC236}">
                <a16:creationId xmlns:a16="http://schemas.microsoft.com/office/drawing/2014/main" id="{B3DCADEE-BF32-296E-9AF0-65341BF1BA84}"/>
              </a:ext>
            </a:extLst>
          </p:cNvPr>
          <p:cNvGrpSpPr/>
          <p:nvPr/>
        </p:nvGrpSpPr>
        <p:grpSpPr>
          <a:xfrm>
            <a:off x="9829800" y="1104900"/>
            <a:ext cx="7812437" cy="547088"/>
            <a:chOff x="0" y="0"/>
            <a:chExt cx="10915650" cy="5873052"/>
          </a:xfrm>
        </p:grpSpPr>
        <p:sp>
          <p:nvSpPr>
            <p:cNvPr id="13" name="Freeform 4" descr="image.png">
              <a:extLst>
                <a:ext uri="{FF2B5EF4-FFF2-40B4-BE49-F238E27FC236}">
                  <a16:creationId xmlns:a16="http://schemas.microsoft.com/office/drawing/2014/main" id="{C386F83D-1108-9320-0471-13D4D7462D94}"/>
                </a:ext>
              </a:extLst>
            </p:cNvPr>
            <p:cNvSpPr/>
            <p:nvPr/>
          </p:nvSpPr>
          <p:spPr>
            <a:xfrm>
              <a:off x="0" y="0"/>
              <a:ext cx="10915650" cy="5873115"/>
            </a:xfrm>
            <a:custGeom>
              <a:avLst/>
              <a:gdLst/>
              <a:ahLst/>
              <a:cxnLst/>
              <a:rect l="l" t="t" r="r" b="b"/>
              <a:pathLst>
                <a:path w="10915650" h="5873115">
                  <a:moveTo>
                    <a:pt x="203200" y="0"/>
                  </a:moveTo>
                  <a:lnTo>
                    <a:pt x="10712450" y="0"/>
                  </a:lnTo>
                  <a:cubicBezTo>
                    <a:pt x="10824674" y="0"/>
                    <a:pt x="10915650" y="90976"/>
                    <a:pt x="10915650" y="203200"/>
                  </a:cubicBezTo>
                  <a:lnTo>
                    <a:pt x="10915650" y="5669915"/>
                  </a:lnTo>
                  <a:cubicBezTo>
                    <a:pt x="10915650" y="5723807"/>
                    <a:pt x="10894241" y="5775492"/>
                    <a:pt x="10856134" y="5813599"/>
                  </a:cubicBezTo>
                  <a:cubicBezTo>
                    <a:pt x="10818027" y="5851707"/>
                    <a:pt x="10766342" y="5873115"/>
                    <a:pt x="10712450" y="5873115"/>
                  </a:cubicBezTo>
                  <a:lnTo>
                    <a:pt x="203200" y="5873115"/>
                  </a:lnTo>
                  <a:cubicBezTo>
                    <a:pt x="90976" y="5873115"/>
                    <a:pt x="0" y="5782139"/>
                    <a:pt x="0" y="5669915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blipFill>
              <a:blip r:embed="rId3"/>
              <a:stretch>
                <a:fillRect t="-188" b="-187"/>
              </a:stretch>
            </a:blipFill>
            <a:ln w="38100" cap="sq">
              <a:solidFill>
                <a:srgbClr val="D6E0EA"/>
              </a:solidFill>
              <a:prstDash val="solid"/>
              <a:miter/>
            </a:ln>
          </p:spPr>
        </p:sp>
      </p:grpSp>
      <p:sp>
        <p:nvSpPr>
          <p:cNvPr id="15" name="TextBox 34">
            <a:extLst>
              <a:ext uri="{FF2B5EF4-FFF2-40B4-BE49-F238E27FC236}">
                <a16:creationId xmlns:a16="http://schemas.microsoft.com/office/drawing/2014/main" id="{9495D105-E410-0C84-A006-E180FCFA6AD2}"/>
              </a:ext>
            </a:extLst>
          </p:cNvPr>
          <p:cNvSpPr txBox="1"/>
          <p:nvPr/>
        </p:nvSpPr>
        <p:spPr>
          <a:xfrm>
            <a:off x="10820400" y="1028700"/>
            <a:ext cx="6074304" cy="656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92"/>
              </a:lnSpc>
            </a:pPr>
            <a:r>
              <a:rPr lang="en-US" sz="3600" dirty="0" err="1">
                <a:solidFill>
                  <a:srgbClr val="0C23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</a:t>
            </a:r>
            <a:r>
              <a:rPr lang="en-US" sz="3600" dirty="0" err="1">
                <a:latin typeface="Times New Roman"/>
                <a:ea typeface="Times New Roman"/>
                <a:cs typeface="Times New Roman"/>
                <a:sym typeface="Times New Roman"/>
              </a:rPr>
              <a:t>Guard</a:t>
            </a:r>
            <a:r>
              <a:rPr lang="en-US" sz="3600" dirty="0">
                <a:solidFill>
                  <a:srgbClr val="319AD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 Tech Stack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DBB6DE2-8473-D64B-C31C-04601D877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06" y="1066869"/>
            <a:ext cx="8953500" cy="895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472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DA8E6-E9B4-8367-45FC-7E9BE8CA4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970BA03-9399-92FA-979A-A852FFE14C7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0" r="-390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4658C29-73A3-44D9-1FD4-C07084531691}"/>
              </a:ext>
            </a:extLst>
          </p:cNvPr>
          <p:cNvGrpSpPr/>
          <p:nvPr/>
        </p:nvGrpSpPr>
        <p:grpSpPr>
          <a:xfrm>
            <a:off x="304800" y="997677"/>
            <a:ext cx="17145000" cy="9258300"/>
            <a:chOff x="0" y="0"/>
            <a:chExt cx="10915650" cy="5873052"/>
          </a:xfrm>
        </p:grpSpPr>
        <p:sp>
          <p:nvSpPr>
            <p:cNvPr id="4" name="Freeform 4" descr="image.png">
              <a:extLst>
                <a:ext uri="{FF2B5EF4-FFF2-40B4-BE49-F238E27FC236}">
                  <a16:creationId xmlns:a16="http://schemas.microsoft.com/office/drawing/2014/main" id="{F353C00D-20FE-ED64-F480-3FF04A389700}"/>
                </a:ext>
              </a:extLst>
            </p:cNvPr>
            <p:cNvSpPr/>
            <p:nvPr/>
          </p:nvSpPr>
          <p:spPr>
            <a:xfrm>
              <a:off x="0" y="0"/>
              <a:ext cx="10915650" cy="5873115"/>
            </a:xfrm>
            <a:custGeom>
              <a:avLst/>
              <a:gdLst/>
              <a:ahLst/>
              <a:cxnLst/>
              <a:rect l="l" t="t" r="r" b="b"/>
              <a:pathLst>
                <a:path w="10915650" h="5873115">
                  <a:moveTo>
                    <a:pt x="203200" y="0"/>
                  </a:moveTo>
                  <a:lnTo>
                    <a:pt x="10712450" y="0"/>
                  </a:lnTo>
                  <a:cubicBezTo>
                    <a:pt x="10824674" y="0"/>
                    <a:pt x="10915650" y="90976"/>
                    <a:pt x="10915650" y="203200"/>
                  </a:cubicBezTo>
                  <a:lnTo>
                    <a:pt x="10915650" y="5669915"/>
                  </a:lnTo>
                  <a:cubicBezTo>
                    <a:pt x="10915650" y="5723807"/>
                    <a:pt x="10894241" y="5775492"/>
                    <a:pt x="10856134" y="5813599"/>
                  </a:cubicBezTo>
                  <a:cubicBezTo>
                    <a:pt x="10818027" y="5851707"/>
                    <a:pt x="10766342" y="5873115"/>
                    <a:pt x="10712450" y="5873115"/>
                  </a:cubicBezTo>
                  <a:lnTo>
                    <a:pt x="203200" y="5873115"/>
                  </a:lnTo>
                  <a:cubicBezTo>
                    <a:pt x="90976" y="5873115"/>
                    <a:pt x="0" y="5782139"/>
                    <a:pt x="0" y="5669915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blipFill>
              <a:blip r:embed="rId3"/>
              <a:stretch>
                <a:fillRect t="-188" b="-187"/>
              </a:stretch>
            </a:blipFill>
            <a:ln w="38100" cap="sq">
              <a:solidFill>
                <a:srgbClr val="D6E0EA"/>
              </a:solidFill>
              <a:prstDash val="solid"/>
              <a:miter/>
            </a:ln>
          </p:spPr>
        </p:sp>
      </p:grpSp>
      <p:sp>
        <p:nvSpPr>
          <p:cNvPr id="25" name="AutoShape 25">
            <a:extLst>
              <a:ext uri="{FF2B5EF4-FFF2-40B4-BE49-F238E27FC236}">
                <a16:creationId xmlns:a16="http://schemas.microsoft.com/office/drawing/2014/main" id="{794DD798-94B2-CB58-2D30-7FFC6D75A1D3}"/>
              </a:ext>
            </a:extLst>
          </p:cNvPr>
          <p:cNvSpPr/>
          <p:nvPr/>
        </p:nvSpPr>
        <p:spPr>
          <a:xfrm>
            <a:off x="742949" y="876300"/>
            <a:ext cx="16473488" cy="0"/>
          </a:xfrm>
          <a:prstGeom prst="line">
            <a:avLst/>
          </a:prstGeom>
          <a:ln w="38100" cap="flat">
            <a:solidFill>
              <a:srgbClr val="D6E0EA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69004B7-3C36-7276-A9C0-830FA88B1FEB}"/>
              </a:ext>
            </a:extLst>
          </p:cNvPr>
          <p:cNvSpPr txBox="1"/>
          <p:nvPr/>
        </p:nvSpPr>
        <p:spPr>
          <a:xfrm>
            <a:off x="742948" y="190500"/>
            <a:ext cx="14344652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000" dirty="0">
                <a:solidFill>
                  <a:srgbClr val="319A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Feasibility &amp; Viability Assessment</a:t>
            </a:r>
            <a:endParaRPr lang="en-IN" sz="7200" dirty="0">
              <a:solidFill>
                <a:srgbClr val="319AD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4">
                <a:extLst>
                  <a:ext uri="{FF2B5EF4-FFF2-40B4-BE49-F238E27FC236}">
                    <a16:creationId xmlns:a16="http://schemas.microsoft.com/office/drawing/2014/main" id="{695098C8-6F5B-B3FA-825A-16042151FAC5}"/>
                  </a:ext>
                </a:extLst>
              </p:cNvPr>
              <p:cNvSpPr txBox="1"/>
              <p:nvPr/>
            </p:nvSpPr>
            <p:spPr>
              <a:xfrm>
                <a:off x="687736" y="1028700"/>
                <a:ext cx="16762064" cy="898707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lang="en-IN" sz="3200" b="1" dirty="0">
                    <a:solidFill>
                      <a:srgbClr val="319AD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Technical Feasibility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Zero GPU Required: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Runs 100% on standard commodity CPUs (</a:t>
                </a:r>
                <a14:m>
                  <m:oMath xmlns:m="http://schemas.openxmlformats.org/officeDocument/2006/math">
                    <m:r>
                      <a:rPr lang="en-IN" sz="2400"/>
                      <m:t>&lt;2</m:t>
                    </m:r>
                    <m:r>
                      <m:rPr>
                        <m:nor/>
                      </m:rPr>
                      <a: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GB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RAM).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Sub-200ms Response: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End-to-end diagnosis in </a:t>
                </a:r>
                <a14:m>
                  <m:oMath xmlns:m="http://schemas.openxmlformats.org/officeDocument/2006/math">
                    <m:r>
                      <a:rPr lang="en-IN" sz="2400"/>
                      <m:t>185.57</m:t>
                    </m:r>
                    <m:r>
                      <m:rPr>
                        <m:nor/>
                      </m:rPr>
                      <a: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ms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(</a:t>
                </a:r>
                <a14:m>
                  <m:oMath xmlns:m="http://schemas.openxmlformats.org/officeDocument/2006/math">
                    <m:r>
                      <a:rPr lang="en-IN" sz="2400"/>
                      <m:t>&gt;13×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faster than SLA).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100% Offline &amp; Air-Gapped: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Zero external cloud dependencies or API latency.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Verified through automated testing: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Backed by 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273+ passing automated tests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IN" sz="2400" dirty="0">
                  <a:solidFill>
                    <a:srgbClr val="319AD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3200" b="1" dirty="0">
                    <a:solidFill>
                      <a:srgbClr val="319AD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Economic &amp; Financial Viability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Major Cost Savings: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Avoids catastrophic bearing failures costing 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$150k–$350k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each.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Potential financial impact is estimated through the tariff-based loss engine; no real-world OPEX/LCOE reduction has been experimentally validated.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Real-Time Revenue Protection: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Converts power loss directly into 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INR/hr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across state PPA tariffs.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3200" b="1" dirty="0">
                    <a:solidFill>
                      <a:srgbClr val="319AD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Operational Viability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Designed to ingest IEC 61400-25-aligned SCADA/data concepts.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Plant Retrofit: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Zero hardware changes or turbine downtime needed.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Reduces context-related false alarms in evaluated scenarios.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Action-Ready: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Generates printable work orders with OEM manual chapter citations.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3200" b="1" dirty="0">
                    <a:solidFill>
                      <a:srgbClr val="319AD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Legal, Safety &amp; Compliance Viability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Zero SCADA Actuation: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Exactly 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control/trip routes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(Strictly Advisory).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Mandatory Human-in-the-Loop: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Certified engineers authorize all maintenance actions.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100% Data Privacy: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Zero proprietary SCADA data leaked to public cloud AI.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Audit-Proof: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Immutable append-only log (</a:t>
                </a:r>
                <a:r>
                  <a:rPr lang="en-I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audit_log.jsonl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for regulatory compliance.</a:t>
                </a:r>
              </a:p>
            </p:txBody>
          </p:sp>
        </mc:Choice>
        <mc:Fallback>
          <p:sp>
            <p:nvSpPr>
              <p:cNvPr id="34" name="TextBox 34">
                <a:extLst>
                  <a:ext uri="{FF2B5EF4-FFF2-40B4-BE49-F238E27FC236}">
                    <a16:creationId xmlns:a16="http://schemas.microsoft.com/office/drawing/2014/main" id="{695098C8-6F5B-B3FA-825A-16042151F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736" y="1028700"/>
                <a:ext cx="16762064" cy="8987076"/>
              </a:xfrm>
              <a:prstGeom prst="rect">
                <a:avLst/>
              </a:prstGeom>
              <a:blipFill>
                <a:blip r:embed="rId4"/>
                <a:stretch>
                  <a:fillRect l="-1491" t="-1493" b="-10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447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0BD63-EE4C-D0A6-932C-9A828AA5F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0DBEBD0-CDE6-F730-92A6-C270BCE3E11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0" r="-390"/>
            </a:stretch>
          </a:blipFill>
        </p:spPr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0C018552-7490-A410-B7DB-CEE5DD23CC31}"/>
              </a:ext>
            </a:extLst>
          </p:cNvPr>
          <p:cNvSpPr/>
          <p:nvPr/>
        </p:nvSpPr>
        <p:spPr>
          <a:xfrm>
            <a:off x="742949" y="952500"/>
            <a:ext cx="16473488" cy="0"/>
          </a:xfrm>
          <a:prstGeom prst="line">
            <a:avLst/>
          </a:prstGeom>
          <a:ln w="38100" cap="flat">
            <a:solidFill>
              <a:srgbClr val="D6E0EA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88470C6-0425-98EF-FDA0-1BBE21A80206}"/>
              </a:ext>
            </a:extLst>
          </p:cNvPr>
          <p:cNvSpPr txBox="1"/>
          <p:nvPr/>
        </p:nvSpPr>
        <p:spPr>
          <a:xfrm>
            <a:off x="742948" y="303439"/>
            <a:ext cx="14344652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000" dirty="0">
                <a:solidFill>
                  <a:srgbClr val="319A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Empirical Evaluation &amp; Benchmark Verification Results</a:t>
            </a:r>
            <a:endParaRPr lang="en-IN" sz="16600" dirty="0">
              <a:solidFill>
                <a:srgbClr val="319AD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8087D9F-D321-4A6B-E0A1-8CD0652176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0395712"/>
                  </p:ext>
                </p:extLst>
              </p:nvPr>
            </p:nvGraphicFramePr>
            <p:xfrm>
              <a:off x="283367" y="1064341"/>
              <a:ext cx="17392652" cy="922265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4348163">
                      <a:extLst>
                        <a:ext uri="{9D8B030D-6E8A-4147-A177-3AD203B41FA5}">
                          <a16:colId xmlns:a16="http://schemas.microsoft.com/office/drawing/2014/main" val="2227872100"/>
                        </a:ext>
                      </a:extLst>
                    </a:gridCol>
                    <a:gridCol w="4348163">
                      <a:extLst>
                        <a:ext uri="{9D8B030D-6E8A-4147-A177-3AD203B41FA5}">
                          <a16:colId xmlns:a16="http://schemas.microsoft.com/office/drawing/2014/main" val="2823853405"/>
                        </a:ext>
                      </a:extLst>
                    </a:gridCol>
                    <a:gridCol w="4348163">
                      <a:extLst>
                        <a:ext uri="{9D8B030D-6E8A-4147-A177-3AD203B41FA5}">
                          <a16:colId xmlns:a16="http://schemas.microsoft.com/office/drawing/2014/main" val="4186608322"/>
                        </a:ext>
                      </a:extLst>
                    </a:gridCol>
                    <a:gridCol w="4348163">
                      <a:extLst>
                        <a:ext uri="{9D8B030D-6E8A-4147-A177-3AD203B41FA5}">
                          <a16:colId xmlns:a16="http://schemas.microsoft.com/office/drawing/2014/main" val="1604702701"/>
                        </a:ext>
                      </a:extLst>
                    </a:gridCol>
                  </a:tblGrid>
                  <a:tr h="219422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Dimension / Metric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Target Threshold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Measured Empirical Result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Status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8990473"/>
                      </a:ext>
                    </a:extLst>
                  </a:tr>
                  <a:tr h="750281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 Curve Model Fit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I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IN" sz="20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IN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0.95</m:t>
                                </m:r>
                              </m:oMath>
                            </m:oMathPara>
                          </a14:m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1.0000</m:t>
                                </m:r>
                              </m:oMath>
                            </m:oMathPara>
                          </a14:m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0393535"/>
                      </a:ext>
                    </a:extLst>
                  </a:tr>
                  <a:tr h="750281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 Curve RMSE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IN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45.0</m:t>
                                </m:r>
                                <m:r>
                                  <m:rPr>
                                    <m:nor/>
                                  </m:rPr>
                                  <a:rPr lang="en-IN" sz="2000" b="0" i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kW</m:t>
                                </m:r>
                              </m:oMath>
                            </m:oMathPara>
                          </a14:m>
                          <a:endParaRPr lang="en-IN" sz="2000" b="0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1.31</m:t>
                                </m:r>
                                <m:r>
                                  <m:rPr>
                                    <m:nor/>
                                  </m:rPr>
                                  <a:rPr lang="en-IN" sz="2000" b="0" i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kW</m:t>
                                </m:r>
                              </m:oMath>
                            </m:oMathPara>
                          </a14:m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53866952"/>
                      </a:ext>
                    </a:extLst>
                  </a:tr>
                  <a:tr h="573328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 Inference Latency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IN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1.0</m:t>
                                </m:r>
                                <m:r>
                                  <m:rPr>
                                    <m:nor/>
                                  </m:rPr>
                                  <a:rPr lang="en-IN" sz="2000" b="0" i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ms</m:t>
                                </m:r>
                              </m:oMath>
                            </m:oMathPara>
                          </a14:m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0.26</m:t>
                                </m:r>
                                <m:r>
                                  <m:rPr>
                                    <m:nor/>
                                  </m:rPr>
                                  <a:rPr lang="en-IN" sz="2000" b="0" i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ms</m:t>
                                </m:r>
                              </m:oMath>
                            </m:oMathPara>
                          </a14:m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067472"/>
                      </a:ext>
                    </a:extLst>
                  </a:tr>
                  <a:tr h="750281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Curtailment False Alarm Suppression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IN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90.0%</m:t>
                                </m:r>
                              </m:oMath>
                            </m:oMathPara>
                          </a14:m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IN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100.0</m:t>
                              </m:r>
                              <m:r>
                                <a:rPr lang="en-IN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</m:oMath>
                          </a14:m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(</a:t>
                          </a:r>
                          <a14:m>
                            <m:oMath xmlns:m="http://schemas.openxmlformats.org/officeDocument/2006/math">
                              <m:r>
                                <a:rPr lang="en-IN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540</m:t>
                              </m:r>
                              <m:r>
                                <a:rPr lang="en-IN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/540</m:t>
                              </m:r>
                            </m:oMath>
                          </a14:m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timesteps)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11013666"/>
                      </a:ext>
                    </a:extLst>
                  </a:tr>
                  <a:tr h="750281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Overall False Alarm Rate (FAR)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IN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5.0%</m:t>
                                </m:r>
                              </m:oMath>
                            </m:oMathPara>
                          </a14:m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3.64</m:t>
                                </m:r>
                                <m:r>
                                  <a:rPr lang="en-IN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lang="en-IN" sz="2000" b="0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13046141"/>
                      </a:ext>
                    </a:extLst>
                  </a:tr>
                  <a:tr h="750281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000" b="1" i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RAG Mean Reciprocal Rank (MRR)</a:t>
                          </a:r>
                          <a:endParaRPr lang="en-IN" sz="2000" b="0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IN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0.80</m:t>
                                </m:r>
                              </m:oMath>
                            </m:oMathPara>
                          </a14:m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IN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1.0000</m:t>
                              </m:r>
                            </m:oMath>
                          </a14:m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(</a:t>
                          </a:r>
                          <a14:m>
                            <m:oMath xmlns:m="http://schemas.openxmlformats.org/officeDocument/2006/math">
                              <m:r>
                                <a:rPr lang="en-IN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  <m:r>
                                <a:rPr lang="en-IN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/15</m:t>
                              </m:r>
                            </m:oMath>
                          </a14:m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85906949"/>
                      </a:ext>
                    </a:extLst>
                  </a:tr>
                  <a:tr h="750281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RAG Operational Recall@3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IN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85.0%</m:t>
                                </m:r>
                              </m:oMath>
                            </m:oMathPara>
                          </a14:m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IN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96.67</m:t>
                              </m:r>
                              <m:r>
                                <a:rPr lang="en-IN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</m:oMath>
                          </a14:m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(</a:t>
                          </a:r>
                          <a14:m>
                            <m:oMath xmlns:m="http://schemas.openxmlformats.org/officeDocument/2006/math">
                              <m:r>
                                <a:rPr lang="en-IN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29</m:t>
                              </m:r>
                              <m:r>
                                <a:rPr lang="en-IN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/30</m:t>
                              </m:r>
                            </m:oMath>
                          </a14:m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87914792"/>
                      </a:ext>
                    </a:extLst>
                  </a:tr>
                  <a:tr h="750281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RAG Retrieval Latency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IN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50.0</m:t>
                                </m:r>
                                <m:r>
                                  <m:rPr>
                                    <m:nor/>
                                  </m:rPr>
                                  <a:rPr lang="en-IN" sz="2000" b="0" i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ms</m:t>
                                </m:r>
                              </m:oMath>
                            </m:oMathPara>
                          </a14:m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1.14</m:t>
                                </m:r>
                                <m:r>
                                  <m:rPr>
                                    <m:nor/>
                                  </m:rPr>
                                  <a:rPr lang="en-IN" sz="2000" b="0" i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ms</m:t>
                                </m:r>
                              </m:oMath>
                            </m:oMathPara>
                          </a14:m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45674446"/>
                      </a:ext>
                    </a:extLst>
                  </a:tr>
                  <a:tr h="750281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Advisory Numerical Fidelity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100.0%</m:t>
                                </m:r>
                              </m:oMath>
                            </m:oMathPara>
                          </a14:m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IN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100.0</m:t>
                              </m:r>
                              <m:r>
                                <a:rPr lang="en-IN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</m:oMath>
                          </a14:m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(</a:t>
                          </a:r>
                          <a14:m>
                            <m:oMath xmlns:m="http://schemas.openxmlformats.org/officeDocument/2006/math">
                              <m:r>
                                <a:rPr lang="en-IN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  <m:r>
                                <a:rPr lang="en-IN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/60</m:t>
                              </m:r>
                            </m:oMath>
                          </a14:m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64392967"/>
                      </a:ext>
                    </a:extLst>
                  </a:tr>
                  <a:tr h="750281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Negative Guardrail Catch Rate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100.0%</m:t>
                                </m:r>
                              </m:oMath>
                            </m:oMathPara>
                          </a14:m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IN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100.0</m:t>
                              </m:r>
                              <m:r>
                                <a:rPr lang="en-IN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</m:oMath>
                          </a14:m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(</a:t>
                          </a:r>
                          <a14:m>
                            <m:oMath xmlns:m="http://schemas.openxmlformats.org/officeDocument/2006/math">
                              <m:r>
                                <a:rPr lang="en-IN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IN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/5</m:t>
                              </m:r>
                            </m:oMath>
                          </a14:m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86244354"/>
                      </a:ext>
                    </a:extLst>
                  </a:tr>
                  <a:tr h="750281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Full Pipeline SLA Latency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IN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2500.0</m:t>
                                </m:r>
                                <m:r>
                                  <m:rPr>
                                    <m:nor/>
                                  </m:rPr>
                                  <a:rPr lang="en-IN" sz="2000" b="0" i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ms</m:t>
                                </m:r>
                              </m:oMath>
                            </m:oMathPara>
                          </a14:m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IN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185.57</m:t>
                              </m:r>
                              <m:r>
                                <m:rPr>
                                  <m:nor/>
                                </m:rPr>
                                <a:rPr lang="en-IN" sz="2000" b="0" i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ms</m:t>
                              </m:r>
                            </m:oMath>
                          </a14:m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(</a:t>
                          </a:r>
                          <a14:m>
                            <m:oMath xmlns:m="http://schemas.openxmlformats.org/officeDocument/2006/math">
                              <m:r>
                                <a:rPr lang="en-IN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13×</m:t>
                              </m:r>
                            </m:oMath>
                          </a14:m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faster)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2924718"/>
                      </a:ext>
                    </a:extLst>
                  </a:tr>
                  <a:tr h="750281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Automated Test Coverage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IN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  <m:r>
                                <a:rPr lang="en-IN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</m:oMath>
                          </a14:m>
                          <a:r>
                            <a:rPr lang="en-IN" sz="2000" b="0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Core Passing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273+ Automated Unit/Integration Tests Passing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lang="en-IN" sz="2000" b="0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9535269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8087D9F-D321-4A6B-E0A1-8CD0652176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0395712"/>
                  </p:ext>
                </p:extLst>
              </p:nvPr>
            </p:nvGraphicFramePr>
            <p:xfrm>
              <a:off x="283367" y="1064341"/>
              <a:ext cx="17392652" cy="922265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4348163">
                      <a:extLst>
                        <a:ext uri="{9D8B030D-6E8A-4147-A177-3AD203B41FA5}">
                          <a16:colId xmlns:a16="http://schemas.microsoft.com/office/drawing/2014/main" val="2227872100"/>
                        </a:ext>
                      </a:extLst>
                    </a:gridCol>
                    <a:gridCol w="4348163">
                      <a:extLst>
                        <a:ext uri="{9D8B030D-6E8A-4147-A177-3AD203B41FA5}">
                          <a16:colId xmlns:a16="http://schemas.microsoft.com/office/drawing/2014/main" val="2823853405"/>
                        </a:ext>
                      </a:extLst>
                    </a:gridCol>
                    <a:gridCol w="4348163">
                      <a:extLst>
                        <a:ext uri="{9D8B030D-6E8A-4147-A177-3AD203B41FA5}">
                          <a16:colId xmlns:a16="http://schemas.microsoft.com/office/drawing/2014/main" val="4186608322"/>
                        </a:ext>
                      </a:extLst>
                    </a:gridCol>
                    <a:gridCol w="4348163">
                      <a:extLst>
                        <a:ext uri="{9D8B030D-6E8A-4147-A177-3AD203B41FA5}">
                          <a16:colId xmlns:a16="http://schemas.microsoft.com/office/drawing/2014/main" val="160470270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Dimension / Metric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Target Threshold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Measured Empirical Result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Status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8990473"/>
                      </a:ext>
                    </a:extLst>
                  </a:tr>
                  <a:tr h="7502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56911" r="-299860" b="-10886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40" t="-56911" r="-200281" b="-10886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9860" t="-56911" r="-100000" b="-10886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0393535"/>
                      </a:ext>
                    </a:extLst>
                  </a:tr>
                  <a:tr h="750281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 Curve RMSE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40" t="-156911" r="-200281" b="-9886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9860" t="-156911" r="-100000" b="-9886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53866952"/>
                      </a:ext>
                    </a:extLst>
                  </a:tr>
                  <a:tr h="573328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 Inference Latency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40" t="-336170" r="-200281" b="-11936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9860" t="-336170" r="-100000" b="-11936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067472"/>
                      </a:ext>
                    </a:extLst>
                  </a:tr>
                  <a:tr h="750281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Curtailment False Alarm Suppression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40" t="-330645" r="-200281" b="-8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9860" t="-330645" r="-100000" b="-8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11013666"/>
                      </a:ext>
                    </a:extLst>
                  </a:tr>
                  <a:tr h="750281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Overall False Alarm Rate (FAR)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40" t="-434146" r="-200281" b="-711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9860" t="-434146" r="-100000" b="-711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lang="en-IN" sz="2000" b="0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13046141"/>
                      </a:ext>
                    </a:extLst>
                  </a:tr>
                  <a:tr h="750281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000" b="1" i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RAG Mean Reciprocal Rank (MRR)</a:t>
                          </a:r>
                          <a:endParaRPr lang="en-IN" sz="2000" b="0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40" t="-534146" r="-200281" b="-611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9860" t="-534146" r="-100000" b="-611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85906949"/>
                      </a:ext>
                    </a:extLst>
                  </a:tr>
                  <a:tr h="750281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RAG Operational Recall@3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40" t="-634146" r="-200281" b="-511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9860" t="-634146" r="-100000" b="-511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87914792"/>
                      </a:ext>
                    </a:extLst>
                  </a:tr>
                  <a:tr h="750281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RAG Retrieval Latency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40" t="-734146" r="-200281" b="-411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9860" t="-734146" r="-100000" b="-411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45674446"/>
                      </a:ext>
                    </a:extLst>
                  </a:tr>
                  <a:tr h="750281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Advisory Numerical Fidelity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40" t="-834146" r="-200281" b="-311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9860" t="-834146" r="-100000" b="-311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64392967"/>
                      </a:ext>
                    </a:extLst>
                  </a:tr>
                  <a:tr h="750281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Negative Guardrail Catch Rate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40" t="-926613" r="-200281" b="-2088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9860" t="-926613" r="-100000" b="-2088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86244354"/>
                      </a:ext>
                    </a:extLst>
                  </a:tr>
                  <a:tr h="750281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Full Pipeline SLA Latency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40" t="-1034959" r="-200281" b="-1105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9860" t="-1034959" r="-100000" b="-1105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2924718"/>
                      </a:ext>
                    </a:extLst>
                  </a:tr>
                  <a:tr h="750281"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Automated Test Coverage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40" t="-1134959" r="-200281" b="-105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273+ Automated Unit/Integration Tests Passing</a:t>
                          </a:r>
                          <a:endParaRPr lang="en-IN" sz="2000" b="0" i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2000" b="1" i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lang="en-IN" sz="2000" b="0" i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9535269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4485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BB121-4636-417C-A60D-C02138DE0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F3338AF-6117-6BBE-65FF-E14D6EEC342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0" r="-390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E114487-DC81-A49A-F2C2-012B4AC86B6A}"/>
              </a:ext>
            </a:extLst>
          </p:cNvPr>
          <p:cNvGrpSpPr/>
          <p:nvPr/>
        </p:nvGrpSpPr>
        <p:grpSpPr>
          <a:xfrm>
            <a:off x="304800" y="1062209"/>
            <a:ext cx="17145000" cy="9020584"/>
            <a:chOff x="0" y="0"/>
            <a:chExt cx="10915650" cy="5873052"/>
          </a:xfrm>
        </p:grpSpPr>
        <p:sp>
          <p:nvSpPr>
            <p:cNvPr id="4" name="Freeform 4" descr="image.png">
              <a:extLst>
                <a:ext uri="{FF2B5EF4-FFF2-40B4-BE49-F238E27FC236}">
                  <a16:creationId xmlns:a16="http://schemas.microsoft.com/office/drawing/2014/main" id="{B20E3E65-53F8-1350-5850-7FF383247EE0}"/>
                </a:ext>
              </a:extLst>
            </p:cNvPr>
            <p:cNvSpPr/>
            <p:nvPr/>
          </p:nvSpPr>
          <p:spPr>
            <a:xfrm>
              <a:off x="0" y="0"/>
              <a:ext cx="10915650" cy="5873115"/>
            </a:xfrm>
            <a:custGeom>
              <a:avLst/>
              <a:gdLst/>
              <a:ahLst/>
              <a:cxnLst/>
              <a:rect l="l" t="t" r="r" b="b"/>
              <a:pathLst>
                <a:path w="10915650" h="5873115">
                  <a:moveTo>
                    <a:pt x="203200" y="0"/>
                  </a:moveTo>
                  <a:lnTo>
                    <a:pt x="10712450" y="0"/>
                  </a:lnTo>
                  <a:cubicBezTo>
                    <a:pt x="10824674" y="0"/>
                    <a:pt x="10915650" y="90976"/>
                    <a:pt x="10915650" y="203200"/>
                  </a:cubicBezTo>
                  <a:lnTo>
                    <a:pt x="10915650" y="5669915"/>
                  </a:lnTo>
                  <a:cubicBezTo>
                    <a:pt x="10915650" y="5723807"/>
                    <a:pt x="10894241" y="5775492"/>
                    <a:pt x="10856134" y="5813599"/>
                  </a:cubicBezTo>
                  <a:cubicBezTo>
                    <a:pt x="10818027" y="5851707"/>
                    <a:pt x="10766342" y="5873115"/>
                    <a:pt x="10712450" y="5873115"/>
                  </a:cubicBezTo>
                  <a:lnTo>
                    <a:pt x="203200" y="5873115"/>
                  </a:lnTo>
                  <a:cubicBezTo>
                    <a:pt x="90976" y="5873115"/>
                    <a:pt x="0" y="5782139"/>
                    <a:pt x="0" y="5669915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blipFill>
              <a:blip r:embed="rId3"/>
              <a:stretch>
                <a:fillRect t="-188" b="-187"/>
              </a:stretch>
            </a:blipFill>
            <a:ln w="38100" cap="sq">
              <a:solidFill>
                <a:srgbClr val="D6E0EA"/>
              </a:solidFill>
              <a:prstDash val="solid"/>
              <a:miter/>
            </a:ln>
          </p:spPr>
        </p:sp>
      </p:grpSp>
      <p:sp>
        <p:nvSpPr>
          <p:cNvPr id="25" name="AutoShape 25">
            <a:extLst>
              <a:ext uri="{FF2B5EF4-FFF2-40B4-BE49-F238E27FC236}">
                <a16:creationId xmlns:a16="http://schemas.microsoft.com/office/drawing/2014/main" id="{61EDB5D5-A1AD-79EB-D101-9102BE739D90}"/>
              </a:ext>
            </a:extLst>
          </p:cNvPr>
          <p:cNvSpPr/>
          <p:nvPr/>
        </p:nvSpPr>
        <p:spPr>
          <a:xfrm>
            <a:off x="742949" y="952500"/>
            <a:ext cx="16473488" cy="0"/>
          </a:xfrm>
          <a:prstGeom prst="line">
            <a:avLst/>
          </a:prstGeom>
          <a:ln w="38100" cap="flat">
            <a:solidFill>
              <a:srgbClr val="D6E0EA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33E79463-31E7-7241-A65C-D1882D1E9A57}"/>
              </a:ext>
            </a:extLst>
          </p:cNvPr>
          <p:cNvSpPr txBox="1"/>
          <p:nvPr/>
        </p:nvSpPr>
        <p:spPr>
          <a:xfrm>
            <a:off x="742948" y="303439"/>
            <a:ext cx="14344652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000" dirty="0">
                <a:solidFill>
                  <a:srgbClr val="319A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&amp; Research Roadmap</a:t>
            </a:r>
            <a:endParaRPr lang="en-IN" sz="16600" dirty="0">
              <a:solidFill>
                <a:srgbClr val="319AD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EADB2CC5-4274-1E9A-EEE5-21354FFC00BA}"/>
              </a:ext>
            </a:extLst>
          </p:cNvPr>
          <p:cNvSpPr txBox="1"/>
          <p:nvPr/>
        </p:nvSpPr>
        <p:spPr>
          <a:xfrm>
            <a:off x="496268" y="1386787"/>
            <a:ext cx="16762064" cy="8371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 Advanced Physical 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(Near-Term):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Ordinary Differential Equations (Neural ODEs):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Implementing continuous-time autoregressive models to eliminate dynamic thermal lag.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kHz Vibration Spectrogram Ingestion: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Integrating raw high-frequency accelerometer FFT spectral data for micro-pitting bearing fault detection.</a:t>
            </a:r>
          </a:p>
          <a:p>
            <a:pPr lvl="1" algn="just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 Edge &amp; Computer Vision Integration (Mid-Term):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Drone Blade Surface Inspection: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Integrating YOLOv8/v10 computer vision models for automated UAV aerodynamic surface crack and leading-edge erosion detection.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Field Connectors: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Direct integration with live 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OPC-UA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Modbus TCP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industrial field gateways.</a:t>
            </a:r>
          </a:p>
          <a:p>
            <a:pPr lvl="1" algn="just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3: Fleet-Wide Collaborative Optimization (Long-Term):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Fleet Wake Steering: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Dynamic yaw offset coordination across adjacent turbines to reduce downstream wake turbulence and boost total farm yield by 2%–4%.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Aeroelastic Digital Twin Integration: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Coupling with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OpenFAST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3D aeroelastic simulation models.</a:t>
            </a:r>
          </a:p>
        </p:txBody>
      </p:sp>
    </p:spTree>
    <p:extLst>
      <p:ext uri="{BB962C8B-B14F-4D97-AF65-F5344CB8AC3E}">
        <p14:creationId xmlns:p14="http://schemas.microsoft.com/office/powerpoint/2010/main" val="2589678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07BBE-0216-B65C-F757-BCFDE5AA0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0B961CB-FFFA-35A0-13C6-1E8963682E4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0" r="-390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E17D5EF-1704-4EFE-24F2-4F7947705C46}"/>
              </a:ext>
            </a:extLst>
          </p:cNvPr>
          <p:cNvGrpSpPr/>
          <p:nvPr/>
        </p:nvGrpSpPr>
        <p:grpSpPr>
          <a:xfrm>
            <a:off x="304800" y="1062209"/>
            <a:ext cx="17145000" cy="7281689"/>
            <a:chOff x="0" y="0"/>
            <a:chExt cx="10915650" cy="5873052"/>
          </a:xfrm>
        </p:grpSpPr>
        <p:sp>
          <p:nvSpPr>
            <p:cNvPr id="4" name="Freeform 4" descr="image.png">
              <a:extLst>
                <a:ext uri="{FF2B5EF4-FFF2-40B4-BE49-F238E27FC236}">
                  <a16:creationId xmlns:a16="http://schemas.microsoft.com/office/drawing/2014/main" id="{1998ECFB-3A77-1AAF-1DC1-EFE8BBFF164A}"/>
                </a:ext>
              </a:extLst>
            </p:cNvPr>
            <p:cNvSpPr/>
            <p:nvPr/>
          </p:nvSpPr>
          <p:spPr>
            <a:xfrm>
              <a:off x="0" y="0"/>
              <a:ext cx="10915650" cy="5873115"/>
            </a:xfrm>
            <a:custGeom>
              <a:avLst/>
              <a:gdLst/>
              <a:ahLst/>
              <a:cxnLst/>
              <a:rect l="l" t="t" r="r" b="b"/>
              <a:pathLst>
                <a:path w="10915650" h="5873115">
                  <a:moveTo>
                    <a:pt x="203200" y="0"/>
                  </a:moveTo>
                  <a:lnTo>
                    <a:pt x="10712450" y="0"/>
                  </a:lnTo>
                  <a:cubicBezTo>
                    <a:pt x="10824674" y="0"/>
                    <a:pt x="10915650" y="90976"/>
                    <a:pt x="10915650" y="203200"/>
                  </a:cubicBezTo>
                  <a:lnTo>
                    <a:pt x="10915650" y="5669915"/>
                  </a:lnTo>
                  <a:cubicBezTo>
                    <a:pt x="10915650" y="5723807"/>
                    <a:pt x="10894241" y="5775492"/>
                    <a:pt x="10856134" y="5813599"/>
                  </a:cubicBezTo>
                  <a:cubicBezTo>
                    <a:pt x="10818027" y="5851707"/>
                    <a:pt x="10766342" y="5873115"/>
                    <a:pt x="10712450" y="5873115"/>
                  </a:cubicBezTo>
                  <a:lnTo>
                    <a:pt x="203200" y="5873115"/>
                  </a:lnTo>
                  <a:cubicBezTo>
                    <a:pt x="90976" y="5873115"/>
                    <a:pt x="0" y="5782139"/>
                    <a:pt x="0" y="5669915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blipFill>
              <a:blip r:embed="rId3"/>
              <a:stretch>
                <a:fillRect t="-188" b="-187"/>
              </a:stretch>
            </a:blipFill>
            <a:ln w="38100" cap="sq">
              <a:solidFill>
                <a:srgbClr val="D6E0EA"/>
              </a:solidFill>
              <a:prstDash val="solid"/>
              <a:miter/>
            </a:ln>
          </p:spPr>
        </p:sp>
      </p:grpSp>
      <p:sp>
        <p:nvSpPr>
          <p:cNvPr id="25" name="AutoShape 25">
            <a:extLst>
              <a:ext uri="{FF2B5EF4-FFF2-40B4-BE49-F238E27FC236}">
                <a16:creationId xmlns:a16="http://schemas.microsoft.com/office/drawing/2014/main" id="{200AAD37-CB95-3289-B85A-A468F3401F3F}"/>
              </a:ext>
            </a:extLst>
          </p:cNvPr>
          <p:cNvSpPr/>
          <p:nvPr/>
        </p:nvSpPr>
        <p:spPr>
          <a:xfrm>
            <a:off x="742949" y="952500"/>
            <a:ext cx="16473488" cy="0"/>
          </a:xfrm>
          <a:prstGeom prst="line">
            <a:avLst/>
          </a:prstGeom>
          <a:ln w="38100" cap="flat">
            <a:solidFill>
              <a:srgbClr val="D6E0EA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BA49E680-7844-C794-A719-34D8600729D8}"/>
              </a:ext>
            </a:extLst>
          </p:cNvPr>
          <p:cNvSpPr txBox="1"/>
          <p:nvPr/>
        </p:nvSpPr>
        <p:spPr>
          <a:xfrm>
            <a:off x="742948" y="303439"/>
            <a:ext cx="15335252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000" dirty="0">
                <a:solidFill>
                  <a:srgbClr val="319A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 Delivering Explainable, Safe &amp; Profitable Clean Energy AI</a:t>
            </a:r>
            <a:endParaRPr lang="en-IN" sz="49600" dirty="0">
              <a:solidFill>
                <a:srgbClr val="319AD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4">
                <a:extLst>
                  <a:ext uri="{FF2B5EF4-FFF2-40B4-BE49-F238E27FC236}">
                    <a16:creationId xmlns:a16="http://schemas.microsoft.com/office/drawing/2014/main" id="{F7FAF498-2283-4B4E-41F7-F56499CF2042}"/>
                  </a:ext>
                </a:extLst>
              </p:cNvPr>
              <p:cNvSpPr txBox="1"/>
              <p:nvPr/>
            </p:nvSpPr>
            <p:spPr>
              <a:xfrm>
                <a:off x="496268" y="1237284"/>
                <a:ext cx="16762064" cy="689419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lvl="0"/>
                <a:r>
                  <a:rPr lang="en-IN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Summary of 4 Major Core Contributions:</a:t>
                </a:r>
                <a:endPara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IN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Physics-Informed ML Baselines:</a:t>
                </a:r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Sub-millisecond power tracking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3200" i="1"/>
                        </m:ctrlPr>
                      </m:sSupPr>
                      <m:e>
                        <m:r>
                          <a:rPr lang="en-IN" sz="3200" i="1"/>
                          <m:t>𝑅</m:t>
                        </m:r>
                      </m:e>
                      <m:sup>
                        <m:r>
                          <a:rPr lang="en-IN" sz="3200"/>
                          <m:t>2</m:t>
                        </m:r>
                      </m:sup>
                    </m:sSup>
                    <m:r>
                      <a:rPr lang="en-IN" sz="3200"/>
                      <m:t>=1.0000</m:t>
                    </m:r>
                  </m:oMath>
                </a14:m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grounded in aerodynamic ODE principles.</a:t>
                </a: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IN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Operational Context Engine:</a:t>
                </a:r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Enforces a 5-level precedence hierarchy delivering </a:t>
                </a:r>
                <a14:m>
                  <m:oMath xmlns:m="http://schemas.openxmlformats.org/officeDocument/2006/math">
                    <m:r>
                      <a:rPr lang="en-IN" sz="3200"/>
                      <m:t>100%</m:t>
                    </m:r>
                  </m:oMath>
                </a14:m>
                <a:r>
                  <a:rPr lang="en-IN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false curtailment suppression</a:t>
                </a:r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and a low </a:t>
                </a:r>
                <a14:m>
                  <m:oMath xmlns:m="http://schemas.openxmlformats.org/officeDocument/2006/math">
                    <m:r>
                      <a:rPr lang="en-IN" sz="3200"/>
                      <m:t>3.64%</m:t>
                    </m:r>
                  </m:oMath>
                </a14:m>
                <a:r>
                  <a:rPr lang="en-IN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False Alarm Rate</a:t>
                </a:r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IN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Local Hybrid RAG &amp; Mathematical Guardrails:</a:t>
                </a:r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Deterministic retrieval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32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MRR</m:t>
                    </m:r>
                    <m:r>
                      <a:rPr lang="en-IN" sz="3200"/>
                      <m:t>=1.00</m:t>
                    </m:r>
                  </m:oMath>
                </a14:m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and </a:t>
                </a:r>
                <a14:m>
                  <m:oMath xmlns:m="http://schemas.openxmlformats.org/officeDocument/2006/math">
                    <m:r>
                      <a:rPr lang="en-IN" sz="3200"/>
                      <m:t>100%</m:t>
                    </m:r>
                  </m:oMath>
                </a14:m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numerical fidelity without public cloud dependencies.</a:t>
                </a: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IN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End-to-End Decision Support:</a:t>
                </a:r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Full fleet diagnostic cycle in </a:t>
                </a:r>
                <a14:m>
                  <m:oMath xmlns:m="http://schemas.openxmlformats.org/officeDocument/2006/math">
                    <m:r>
                      <a:rPr lang="en-IN" sz="3200"/>
                      <m:t>185.57</m:t>
                    </m:r>
                    <m:r>
                      <m:rPr>
                        <m:nor/>
                      </m:rPr>
                      <a:rPr lang="en-IN" sz="32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ms</m:t>
                    </m:r>
                  </m:oMath>
                </a14:m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with strict non-actuating human governance.</a:t>
                </a:r>
              </a:p>
              <a:p>
                <a:pPr lvl="1"/>
                <a:endPara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IN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Project Status:</a:t>
                </a:r>
                <a:endPara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100% Phase 1–8 Full-Stack Implementation Complete</a:t>
                </a: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273+ Automated Unit &amp; Integration Tests Passing</a:t>
                </a: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Ready for Capstone Examination and controlled future field validation.</a:t>
                </a:r>
              </a:p>
            </p:txBody>
          </p:sp>
        </mc:Choice>
        <mc:Fallback>
          <p:sp>
            <p:nvSpPr>
              <p:cNvPr id="34" name="TextBox 34">
                <a:extLst>
                  <a:ext uri="{FF2B5EF4-FFF2-40B4-BE49-F238E27FC236}">
                    <a16:creationId xmlns:a16="http://schemas.microsoft.com/office/drawing/2014/main" id="{F7FAF498-2283-4B4E-41F7-F56499CF2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68" y="1237284"/>
                <a:ext cx="16762064" cy="6894195"/>
              </a:xfrm>
              <a:prstGeom prst="rect">
                <a:avLst/>
              </a:prstGeom>
              <a:blipFill>
                <a:blip r:embed="rId4"/>
                <a:stretch>
                  <a:fillRect l="-1455" t="-1945" r="-1164" b="-26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34">
            <a:extLst>
              <a:ext uri="{FF2B5EF4-FFF2-40B4-BE49-F238E27FC236}">
                <a16:creationId xmlns:a16="http://schemas.microsoft.com/office/drawing/2014/main" id="{306DB4EE-42B2-832B-5475-8C689551A6EC}"/>
              </a:ext>
            </a:extLst>
          </p:cNvPr>
          <p:cNvSpPr txBox="1"/>
          <p:nvPr/>
        </p:nvSpPr>
        <p:spPr>
          <a:xfrm>
            <a:off x="523390" y="8416451"/>
            <a:ext cx="16762064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/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WindGuard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demonstrates how industrial AI in renewable energy can combine physics-grounded reasoning, contextual awareness, financial prioritization and strict non-actuating human governance.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373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1572</Words>
  <Application>Microsoft Office PowerPoint</Application>
  <PresentationFormat>Custom</PresentationFormat>
  <Paragraphs>218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Inter Light</vt:lpstr>
      <vt:lpstr>Cambria Math</vt:lpstr>
      <vt:lpstr>Calibri</vt:lpstr>
      <vt:lpstr>Montserrat Medium</vt:lpstr>
      <vt:lpstr>Times New Roman</vt:lpstr>
      <vt:lpstr>Arial</vt:lpstr>
      <vt:lpstr>Newsreader 36pt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Cyclone Saarthi - Team Ariyon (PCCOE IGC 2026) (1).pptx</dc:title>
  <dc:creator>Shrivarad Bhagwatikar</dc:creator>
  <cp:lastModifiedBy>Shrivarad Bhagwatikar</cp:lastModifiedBy>
  <cp:revision>7</cp:revision>
  <dcterms:created xsi:type="dcterms:W3CDTF">2006-08-16T00:00:00Z</dcterms:created>
  <dcterms:modified xsi:type="dcterms:W3CDTF">2026-09-21T19:32:58Z</dcterms:modified>
  <dc:identifier>DAHUtBdco0M</dc:identifier>
</cp:coreProperties>
</file>